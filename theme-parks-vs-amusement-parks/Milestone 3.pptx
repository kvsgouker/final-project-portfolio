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2"/>
  </p:notesMasterIdLst>
  <p:sldIdLst>
    <p:sldId id="272" r:id="rId2"/>
    <p:sldId id="274" r:id="rId3"/>
    <p:sldId id="278" r:id="rId4"/>
    <p:sldId id="275" r:id="rId5"/>
    <p:sldId id="277" r:id="rId6"/>
    <p:sldId id="280" r:id="rId7"/>
    <p:sldId id="259" r:id="rId8"/>
    <p:sldId id="267" r:id="rId9"/>
    <p:sldId id="279" r:id="rId10"/>
    <p:sldId id="27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240" userDrawn="1">
          <p15:clr>
            <a:srgbClr val="A4A3A4"/>
          </p15:clr>
        </p15:guide>
        <p15:guide id="6" orient="horz" pos="144" userDrawn="1">
          <p15:clr>
            <a:srgbClr val="A4A3A4"/>
          </p15:clr>
        </p15:guide>
        <p15:guide id="7" orient="horz" pos="4104" userDrawn="1">
          <p15:clr>
            <a:srgbClr val="A4A3A4"/>
          </p15:clr>
        </p15:guide>
        <p15:guide id="8" pos="7440" userDrawn="1">
          <p15:clr>
            <a:srgbClr val="A4A3A4"/>
          </p15:clr>
        </p15:guide>
        <p15:guide id="13" orient="horz" pos="1512" userDrawn="1">
          <p15:clr>
            <a:srgbClr val="A4A3A4"/>
          </p15:clr>
        </p15:guide>
        <p15:guide id="17" orient="horz" pos="2376" userDrawn="1">
          <p15:clr>
            <a:srgbClr val="A4A3A4"/>
          </p15:clr>
        </p15:guide>
        <p15:guide id="18" pos="4824" userDrawn="1">
          <p15:clr>
            <a:srgbClr val="A4A3A4"/>
          </p15:clr>
        </p15:guide>
        <p15:guide id="20" pos="2016" userDrawn="1">
          <p15:clr>
            <a:srgbClr val="A4A3A4"/>
          </p15:clr>
        </p15:guide>
        <p15:guide id="21" orient="horz" pos="1680" userDrawn="1">
          <p15:clr>
            <a:srgbClr val="A4A3A4"/>
          </p15:clr>
        </p15:guide>
        <p15:guide id="22" orient="horz" pos="1008" userDrawn="1">
          <p15:clr>
            <a:srgbClr val="A4A3A4"/>
          </p15:clr>
        </p15:guide>
        <p15:guide id="23" pos="408" userDrawn="1">
          <p15:clr>
            <a:srgbClr val="A4A3A4"/>
          </p15:clr>
        </p15:guide>
        <p15:guide id="24" orient="horz" pos="792" userDrawn="1">
          <p15:clr>
            <a:srgbClr val="A4A3A4"/>
          </p15:clr>
        </p15:guide>
        <p15:guide id="25" orient="horz" pos="2760" userDrawn="1">
          <p15:clr>
            <a:srgbClr val="A4A3A4"/>
          </p15:clr>
        </p15:guide>
        <p15:guide id="26" orient="horz" pos="3024" userDrawn="1">
          <p15:clr>
            <a:srgbClr val="A4A3A4"/>
          </p15:clr>
        </p15:guide>
        <p15:guide id="27" pos="3840" userDrawn="1">
          <p15:clr>
            <a:srgbClr val="A4A3A4"/>
          </p15:clr>
        </p15:guide>
        <p15:guide id="28" orient="horz" pos="22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DBDB"/>
    <a:srgbClr val="DCF0F2"/>
    <a:srgbClr val="E2EAEC"/>
    <a:srgbClr val="43CDD9"/>
    <a:srgbClr val="85E0E7"/>
    <a:srgbClr val="E0ECEE"/>
    <a:srgbClr val="30353F"/>
    <a:srgbClr val="667181"/>
    <a:srgbClr val="BABABA"/>
    <a:srgbClr val="515A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52" autoAdjust="0"/>
  </p:normalViewPr>
  <p:slideViewPr>
    <p:cSldViewPr snapToGrid="0" showGuides="1">
      <p:cViewPr varScale="1">
        <p:scale>
          <a:sx n="87" d="100"/>
          <a:sy n="87" d="100"/>
        </p:scale>
        <p:origin x="302" y="46"/>
      </p:cViewPr>
      <p:guideLst>
        <p:guide pos="240"/>
        <p:guide orient="horz" pos="144"/>
        <p:guide orient="horz" pos="4104"/>
        <p:guide pos="7440"/>
        <p:guide orient="horz" pos="1512"/>
        <p:guide orient="horz" pos="2376"/>
        <p:guide pos="4824"/>
        <p:guide pos="2016"/>
        <p:guide orient="horz" pos="1680"/>
        <p:guide orient="horz" pos="1008"/>
        <p:guide pos="408"/>
        <p:guide orient="horz" pos="792"/>
        <p:guide orient="horz" pos="2760"/>
        <p:guide orient="horz" pos="3024"/>
        <p:guide pos="3840"/>
        <p:guide orient="horz" pos="22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1C655F-54C7-4D03-AD26-E0C40F01563A}" type="datetimeFigureOut">
              <a:rPr lang="id-ID" smtClean="0"/>
              <a:t>30/10/2022</a:t>
            </a:fld>
            <a:endParaRPr lang="id-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d-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D34AC2-3728-4A8B-B58F-6888FAEC3D20}" type="slidenum">
              <a:rPr lang="id-ID" smtClean="0"/>
              <a:t>‹#›</a:t>
            </a:fld>
            <a:endParaRPr lang="id-ID"/>
          </a:p>
        </p:txBody>
      </p:sp>
    </p:spTree>
    <p:extLst>
      <p:ext uri="{BB962C8B-B14F-4D97-AF65-F5344CB8AC3E}">
        <p14:creationId xmlns:p14="http://schemas.microsoft.com/office/powerpoint/2010/main" val="1086178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2635058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3302397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1662068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2034835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1645618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1432641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753328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3B832CC-E04A-47A7-966D-475AEA6409AB}"/>
              </a:ext>
            </a:extLst>
          </p:cNvPr>
          <p:cNvSpPr>
            <a:spLocks noGrp="1"/>
          </p:cNvSpPr>
          <p:nvPr>
            <p:ph type="pic" sz="quarter" idx="13"/>
          </p:nvPr>
        </p:nvSpPr>
        <p:spPr>
          <a:xfrm>
            <a:off x="4689139"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a:noAutofit/>
          </a:bodyPr>
          <a:lstStyle/>
          <a:p>
            <a:r>
              <a:rPr lang="en-US"/>
              <a:t>Click icon to add picture</a:t>
            </a:r>
            <a:endParaRPr lang="en-US" dirty="0"/>
          </a:p>
        </p:txBody>
      </p:sp>
      <p:sp>
        <p:nvSpPr>
          <p:cNvPr id="2" name="Date Placeholder 1"/>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428E537-E56B-49CA-B596-52598082FBE8}" type="slidenum">
              <a:rPr lang="en-US" smtClean="0"/>
              <a:t>‹#›</a:t>
            </a:fld>
            <a:endParaRPr lang="en-US" dirty="0"/>
          </a:p>
        </p:txBody>
      </p:sp>
      <p:sp>
        <p:nvSpPr>
          <p:cNvPr id="6" name="Freeform: Shape 7">
            <a:extLst>
              <a:ext uri="{FF2B5EF4-FFF2-40B4-BE49-F238E27FC236}">
                <a16:creationId xmlns:a16="http://schemas.microsoft.com/office/drawing/2014/main" id="{23B832CC-E04A-47A7-966D-475AEA6409AB}"/>
              </a:ext>
            </a:extLst>
          </p:cNvPr>
          <p:cNvSpPr>
            <a:spLocks noGrp="1"/>
          </p:cNvSpPr>
          <p:nvPr>
            <p:ph type="pic" sz="quarter" idx="14"/>
          </p:nvPr>
        </p:nvSpPr>
        <p:spPr>
          <a:xfrm>
            <a:off x="1125882"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a:noAutofit/>
          </a:bodyPr>
          <a:lstStyle/>
          <a:p>
            <a:r>
              <a:rPr lang="en-US"/>
              <a:t>Click icon to add picture</a:t>
            </a:r>
            <a:endParaRPr lang="en-US" dirty="0"/>
          </a:p>
        </p:txBody>
      </p:sp>
      <p:sp>
        <p:nvSpPr>
          <p:cNvPr id="7" name="Freeform: Shape 7">
            <a:extLst>
              <a:ext uri="{FF2B5EF4-FFF2-40B4-BE49-F238E27FC236}">
                <a16:creationId xmlns:a16="http://schemas.microsoft.com/office/drawing/2014/main" id="{23B832CC-E04A-47A7-966D-475AEA6409AB}"/>
              </a:ext>
            </a:extLst>
          </p:cNvPr>
          <p:cNvSpPr>
            <a:spLocks noGrp="1"/>
          </p:cNvSpPr>
          <p:nvPr>
            <p:ph type="pic" sz="quarter" idx="15"/>
          </p:nvPr>
        </p:nvSpPr>
        <p:spPr>
          <a:xfrm>
            <a:off x="8252396" y="2491272"/>
            <a:ext cx="2807036" cy="2804628"/>
          </a:xfrm>
          <a:custGeom>
            <a:avLst/>
            <a:gdLst>
              <a:gd name="connsiteX0" fmla="*/ 1406866 w 2807036"/>
              <a:gd name="connsiteY0" fmla="*/ 0 h 2804628"/>
              <a:gd name="connsiteX1" fmla="*/ 2061159 w 2807036"/>
              <a:gd name="connsiteY1" fmla="*/ 271017 h 2804628"/>
              <a:gd name="connsiteX2" fmla="*/ 2542705 w 2807036"/>
              <a:gd name="connsiteY2" fmla="*/ 752562 h 2804628"/>
              <a:gd name="connsiteX3" fmla="*/ 2796783 w 2807036"/>
              <a:gd name="connsiteY3" fmla="*/ 1230127 h 2804628"/>
              <a:gd name="connsiteX4" fmla="*/ 2807036 w 2807036"/>
              <a:gd name="connsiteY4" fmla="*/ 1301178 h 2804628"/>
              <a:gd name="connsiteX5" fmla="*/ 2807036 w 2807036"/>
              <a:gd name="connsiteY5" fmla="*/ 1512532 h 2804628"/>
              <a:gd name="connsiteX6" fmla="*/ 2796783 w 2807036"/>
              <a:gd name="connsiteY6" fmla="*/ 1583584 h 2804628"/>
              <a:gd name="connsiteX7" fmla="*/ 2542705 w 2807036"/>
              <a:gd name="connsiteY7" fmla="*/ 2061148 h 2804628"/>
              <a:gd name="connsiteX8" fmla="*/ 2061149 w 2807036"/>
              <a:gd name="connsiteY8" fmla="*/ 2542704 h 2804628"/>
              <a:gd name="connsiteX9" fmla="*/ 1583585 w 2807036"/>
              <a:gd name="connsiteY9" fmla="*/ 2796782 h 2804628"/>
              <a:gd name="connsiteX10" fmla="*/ 1529213 w 2807036"/>
              <a:gd name="connsiteY10" fmla="*/ 2804628 h 2804628"/>
              <a:gd name="connsiteX11" fmla="*/ 1284499 w 2807036"/>
              <a:gd name="connsiteY11" fmla="*/ 2804628 h 2804628"/>
              <a:gd name="connsiteX12" fmla="*/ 1230128 w 2807036"/>
              <a:gd name="connsiteY12" fmla="*/ 2796782 h 2804628"/>
              <a:gd name="connsiteX13" fmla="*/ 752563 w 2807036"/>
              <a:gd name="connsiteY13" fmla="*/ 2542704 h 2804628"/>
              <a:gd name="connsiteX14" fmla="*/ 271018 w 2807036"/>
              <a:gd name="connsiteY14" fmla="*/ 2061158 h 2804628"/>
              <a:gd name="connsiteX15" fmla="*/ 271018 w 2807036"/>
              <a:gd name="connsiteY15" fmla="*/ 752572 h 2804628"/>
              <a:gd name="connsiteX16" fmla="*/ 752573 w 2807036"/>
              <a:gd name="connsiteY16" fmla="*/ 271017 h 2804628"/>
              <a:gd name="connsiteX17" fmla="*/ 1406866 w 2807036"/>
              <a:gd name="connsiteY17" fmla="*/ 0 h 2804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07036" h="2804628">
                <a:moveTo>
                  <a:pt x="1406866" y="0"/>
                </a:moveTo>
                <a:cubicBezTo>
                  <a:pt x="1643674" y="0"/>
                  <a:pt x="1880481" y="90339"/>
                  <a:pt x="2061159" y="271017"/>
                </a:cubicBezTo>
                <a:lnTo>
                  <a:pt x="2542705" y="752562"/>
                </a:lnTo>
                <a:cubicBezTo>
                  <a:pt x="2678213" y="888071"/>
                  <a:pt x="2762906" y="1055152"/>
                  <a:pt x="2796783" y="1230127"/>
                </a:cubicBezTo>
                <a:lnTo>
                  <a:pt x="2807036" y="1301178"/>
                </a:lnTo>
                <a:lnTo>
                  <a:pt x="2807036" y="1512532"/>
                </a:lnTo>
                <a:lnTo>
                  <a:pt x="2796783" y="1583584"/>
                </a:lnTo>
                <a:cubicBezTo>
                  <a:pt x="2762906" y="1758558"/>
                  <a:pt x="2678213" y="1925640"/>
                  <a:pt x="2542705" y="2061148"/>
                </a:cubicBezTo>
                <a:lnTo>
                  <a:pt x="2061149" y="2542704"/>
                </a:lnTo>
                <a:cubicBezTo>
                  <a:pt x="1925641" y="2678212"/>
                  <a:pt x="1758559" y="2762905"/>
                  <a:pt x="1583585" y="2796782"/>
                </a:cubicBezTo>
                <a:lnTo>
                  <a:pt x="1529213" y="2804628"/>
                </a:lnTo>
                <a:lnTo>
                  <a:pt x="1284499" y="2804628"/>
                </a:lnTo>
                <a:lnTo>
                  <a:pt x="1230128" y="2796782"/>
                </a:lnTo>
                <a:cubicBezTo>
                  <a:pt x="1055153" y="2762905"/>
                  <a:pt x="888072" y="2678212"/>
                  <a:pt x="752563" y="2542704"/>
                </a:cubicBezTo>
                <a:lnTo>
                  <a:pt x="271018" y="2061158"/>
                </a:lnTo>
                <a:cubicBezTo>
                  <a:pt x="-90339" y="1699802"/>
                  <a:pt x="-90339" y="1113928"/>
                  <a:pt x="271018" y="752572"/>
                </a:cubicBezTo>
                <a:lnTo>
                  <a:pt x="752573" y="271017"/>
                </a:lnTo>
                <a:cubicBezTo>
                  <a:pt x="933252" y="90339"/>
                  <a:pt x="1170059" y="0"/>
                  <a:pt x="1406866" y="0"/>
                </a:cubicBezTo>
                <a:close/>
              </a:path>
            </a:pathLst>
          </a:custGeom>
        </p:spPr>
        <p:txBody>
          <a:bodyPr wrap="square">
            <a:noAutofit/>
          </a:bodyPr>
          <a:lstStyle/>
          <a:p>
            <a:r>
              <a:rPr lang="en-US"/>
              <a:t>Click icon to add picture</a:t>
            </a:r>
            <a:endParaRPr lang="en-US" dirty="0"/>
          </a:p>
        </p:txBody>
      </p:sp>
    </p:spTree>
    <p:extLst>
      <p:ext uri="{BB962C8B-B14F-4D97-AF65-F5344CB8AC3E}">
        <p14:creationId xmlns:p14="http://schemas.microsoft.com/office/powerpoint/2010/main" val="1596995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4001594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2779547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4394202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6FE2-9E77-4834-9C6B-212E1056298F}" type="datetimeFigureOut">
              <a:rPr lang="en-US" smtClean="0"/>
              <a:t>10/30/2022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428E537-E56B-49CA-B596-52598082FBE8}" type="slidenum">
              <a:rPr lang="en-US" smtClean="0"/>
              <a:t>‹#›</a:t>
            </a:fld>
            <a:endParaRPr lang="en-US" dirty="0"/>
          </a:p>
        </p:txBody>
      </p:sp>
    </p:spTree>
    <p:extLst>
      <p:ext uri="{BB962C8B-B14F-4D97-AF65-F5344CB8AC3E}">
        <p14:creationId xmlns:p14="http://schemas.microsoft.com/office/powerpoint/2010/main" val="3032131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F96FE2-9E77-4834-9C6B-212E1056298F}" type="datetimeFigureOut">
              <a:rPr lang="en-US" smtClean="0"/>
              <a:t>10/30/2022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28E537-E56B-49CA-B596-52598082FBE8}" type="slidenum">
              <a:rPr lang="en-US" smtClean="0"/>
              <a:t>‹#›</a:t>
            </a:fld>
            <a:endParaRPr lang="en-US" dirty="0"/>
          </a:p>
        </p:txBody>
      </p:sp>
    </p:spTree>
    <p:extLst>
      <p:ext uri="{BB962C8B-B14F-4D97-AF65-F5344CB8AC3E}">
        <p14:creationId xmlns:p14="http://schemas.microsoft.com/office/powerpoint/2010/main" val="284475933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4" r:id="rId8"/>
    <p:sldLayoutId id="2147483680" r:id="rId9"/>
    <p:sldLayoutId id="2147483681" r:id="rId10"/>
    <p:sldLayoutId id="2147483682" r:id="rId11"/>
    <p:sldLayoutId id="214748368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10.gif"/></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jpeg"/><Relationship Id="rId1" Type="http://schemas.openxmlformats.org/officeDocument/2006/relationships/slideLayout" Target="../slideLayouts/slideLayout6.xml"/><Relationship Id="rId6" Type="http://schemas.openxmlformats.org/officeDocument/2006/relationships/image" Target="../media/image20.gif"/><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gif"/><Relationship Id="rId1" Type="http://schemas.openxmlformats.org/officeDocument/2006/relationships/slideLayout" Target="../slideLayouts/slideLayout6.xml"/><Relationship Id="rId4" Type="http://schemas.openxmlformats.org/officeDocument/2006/relationships/image" Target="../media/image26.gif"/></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355F7AF-6F54-7CF4-4258-CB98B57BCEF4}"/>
              </a:ext>
            </a:extLst>
          </p:cNvPr>
          <p:cNvSpPr txBox="1"/>
          <p:nvPr/>
        </p:nvSpPr>
        <p:spPr>
          <a:xfrm>
            <a:off x="4214876" y="3444079"/>
            <a:ext cx="3762247" cy="677108"/>
          </a:xfrm>
          <a:prstGeom prst="rect">
            <a:avLst/>
          </a:prstGeom>
          <a:noFill/>
        </p:spPr>
        <p:txBody>
          <a:bodyPr wrap="none" lIns="0" tIns="0" rIns="0" bIns="0" rtlCol="0">
            <a:spAutoFit/>
          </a:bodyPr>
          <a:lstStyle/>
          <a:p>
            <a:pPr algn="ctr">
              <a:tabLst>
                <a:tab pos="347663" algn="l"/>
              </a:tabLst>
            </a:pPr>
            <a:r>
              <a:rPr lang="en-US" sz="4400" b="1" dirty="0">
                <a:solidFill>
                  <a:schemeClr val="bg1"/>
                </a:solidFill>
                <a:latin typeface="+mj-lt"/>
              </a:rPr>
              <a:t>DATA DRIVEN </a:t>
            </a:r>
          </a:p>
        </p:txBody>
      </p:sp>
      <p:sp>
        <p:nvSpPr>
          <p:cNvPr id="12" name="Oval 11">
            <a:extLst>
              <a:ext uri="{FF2B5EF4-FFF2-40B4-BE49-F238E27FC236}">
                <a16:creationId xmlns:a16="http://schemas.microsoft.com/office/drawing/2014/main" id="{1F80DB11-FA8B-4887-C0F2-A67C383EDB48}"/>
              </a:ext>
              <a:ext uri="{C183D7F6-B498-43B3-948B-1728B52AA6E4}">
                <adec:decorative xmlns:adec="http://schemas.microsoft.com/office/drawing/2017/decorative" val="1"/>
              </a:ext>
            </a:extLst>
          </p:cNvPr>
          <p:cNvSpPr/>
          <p:nvPr/>
        </p:nvSpPr>
        <p:spPr>
          <a:xfrm>
            <a:off x="1328310" y="834129"/>
            <a:ext cx="1185628" cy="1171575"/>
          </a:xfrm>
          <a:prstGeom prst="ellipse">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5" name="TextBox 14">
            <a:extLst>
              <a:ext uri="{FF2B5EF4-FFF2-40B4-BE49-F238E27FC236}">
                <a16:creationId xmlns:a16="http://schemas.microsoft.com/office/drawing/2014/main" id="{B67113FF-EABF-4433-18FC-EBC2E3EC8B90}"/>
              </a:ext>
            </a:extLst>
          </p:cNvPr>
          <p:cNvSpPr txBox="1"/>
          <p:nvPr/>
        </p:nvSpPr>
        <p:spPr>
          <a:xfrm>
            <a:off x="2760939" y="2969462"/>
            <a:ext cx="7837082" cy="1354217"/>
          </a:xfrm>
          <a:prstGeom prst="rect">
            <a:avLst/>
          </a:prstGeom>
          <a:noFill/>
        </p:spPr>
        <p:txBody>
          <a:bodyPr wrap="none" lIns="0" tIns="0" rIns="0" bIns="0" rtlCol="0">
            <a:spAutoFit/>
          </a:bodyPr>
          <a:lstStyle/>
          <a:p>
            <a:pPr algn="ctr">
              <a:tabLst>
                <a:tab pos="347663" algn="l"/>
              </a:tabLst>
            </a:pPr>
            <a:r>
              <a:rPr lang="en-US" sz="4400" b="1" dirty="0">
                <a:solidFill>
                  <a:schemeClr val="bg1"/>
                </a:solidFill>
                <a:latin typeface="+mj-lt"/>
              </a:rPr>
              <a:t>DATA DRIVEN</a:t>
            </a:r>
          </a:p>
          <a:p>
            <a:pPr algn="ctr">
              <a:tabLst>
                <a:tab pos="347663" algn="l"/>
              </a:tabLst>
            </a:pPr>
            <a:r>
              <a:rPr lang="en-US" sz="4400" b="1" dirty="0">
                <a:solidFill>
                  <a:schemeClr val="bg1"/>
                </a:solidFill>
                <a:latin typeface="+mj-lt"/>
              </a:rPr>
              <a:t>POPULARITY OF THEME PARKS</a:t>
            </a:r>
          </a:p>
        </p:txBody>
      </p:sp>
      <p:pic>
        <p:nvPicPr>
          <p:cNvPr id="17" name="Picture 16" descr="A close-up of a person's face&#10;&#10;Description automatically generated with low confidence">
            <a:extLst>
              <a:ext uri="{FF2B5EF4-FFF2-40B4-BE49-F238E27FC236}">
                <a16:creationId xmlns:a16="http://schemas.microsoft.com/office/drawing/2014/main" id="{C78C001F-F863-37B6-2AFB-6E6BD9DD5E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12192001" cy="6858002"/>
          </a:xfrm>
          <a:prstGeom prst="rect">
            <a:avLst/>
          </a:prstGeom>
        </p:spPr>
      </p:pic>
      <p:sp>
        <p:nvSpPr>
          <p:cNvPr id="18" name="Oval 17">
            <a:extLst>
              <a:ext uri="{FF2B5EF4-FFF2-40B4-BE49-F238E27FC236}">
                <a16:creationId xmlns:a16="http://schemas.microsoft.com/office/drawing/2014/main" id="{B4C05B78-6302-A517-03D2-A321E9B8EC98}"/>
              </a:ext>
              <a:ext uri="{C183D7F6-B498-43B3-948B-1728B52AA6E4}">
                <adec:decorative xmlns:adec="http://schemas.microsoft.com/office/drawing/2017/decorative" val="1"/>
              </a:ext>
            </a:extLst>
          </p:cNvPr>
          <p:cNvSpPr>
            <a:spLocks/>
          </p:cNvSpPr>
          <p:nvPr/>
        </p:nvSpPr>
        <p:spPr>
          <a:xfrm>
            <a:off x="5331067" y="1418323"/>
            <a:ext cx="1463040" cy="1463040"/>
          </a:xfrm>
          <a:prstGeom prst="ellipse">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 name="Oval 18">
            <a:extLst>
              <a:ext uri="{FF2B5EF4-FFF2-40B4-BE49-F238E27FC236}">
                <a16:creationId xmlns:a16="http://schemas.microsoft.com/office/drawing/2014/main" id="{18A3E5EE-2026-CE30-BF14-DFCF0D1F4013}"/>
              </a:ext>
              <a:ext uri="{C183D7F6-B498-43B3-948B-1728B52AA6E4}">
                <adec:decorative xmlns:adec="http://schemas.microsoft.com/office/drawing/2017/decorative" val="1"/>
              </a:ext>
            </a:extLst>
          </p:cNvPr>
          <p:cNvSpPr/>
          <p:nvPr/>
        </p:nvSpPr>
        <p:spPr>
          <a:xfrm>
            <a:off x="5083534" y="1602015"/>
            <a:ext cx="1188720" cy="1188720"/>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Oval 19">
            <a:extLst>
              <a:ext uri="{FF2B5EF4-FFF2-40B4-BE49-F238E27FC236}">
                <a16:creationId xmlns:a16="http://schemas.microsoft.com/office/drawing/2014/main" id="{EF89D045-B097-3AD8-865A-BC494BCD8686}"/>
              </a:ext>
              <a:ext uri="{C183D7F6-B498-43B3-948B-1728B52AA6E4}">
                <adec:decorative xmlns:adec="http://schemas.microsoft.com/office/drawing/2017/decorative" val="1"/>
              </a:ext>
            </a:extLst>
          </p:cNvPr>
          <p:cNvSpPr/>
          <p:nvPr/>
        </p:nvSpPr>
        <p:spPr>
          <a:xfrm>
            <a:off x="5902453" y="1569360"/>
            <a:ext cx="1188720" cy="1188720"/>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F778B40F-E2CB-5D10-091C-6755B17FADAA}"/>
              </a:ext>
            </a:extLst>
          </p:cNvPr>
          <p:cNvSpPr txBox="1"/>
          <p:nvPr/>
        </p:nvSpPr>
        <p:spPr>
          <a:xfrm>
            <a:off x="2195217" y="3405979"/>
            <a:ext cx="8106386" cy="1846659"/>
          </a:xfrm>
          <a:prstGeom prst="rect">
            <a:avLst/>
          </a:prstGeom>
          <a:noFill/>
        </p:spPr>
        <p:txBody>
          <a:bodyPr wrap="none" lIns="0" tIns="0" rIns="0" bIns="0" rtlCol="0">
            <a:spAutoFit/>
          </a:bodyPr>
          <a:lstStyle/>
          <a:p>
            <a:pPr algn="ctr">
              <a:tabLst>
                <a:tab pos="347663" algn="l"/>
              </a:tabLst>
            </a:pPr>
            <a:r>
              <a:rPr lang="en-US" sz="4000" b="1" dirty="0">
                <a:solidFill>
                  <a:schemeClr val="bg1"/>
                </a:solidFill>
                <a:latin typeface="+mj-lt"/>
              </a:rPr>
              <a:t>DATA SCIENCE:</a:t>
            </a:r>
          </a:p>
          <a:p>
            <a:pPr algn="ctr">
              <a:tabLst>
                <a:tab pos="347663" algn="l"/>
              </a:tabLst>
            </a:pPr>
            <a:r>
              <a:rPr lang="en-US" sz="4000" b="1" dirty="0">
                <a:solidFill>
                  <a:schemeClr val="bg1"/>
                </a:solidFill>
                <a:latin typeface="+mj-lt"/>
              </a:rPr>
              <a:t>THE POPULARITY OF THEME PARKS</a:t>
            </a:r>
          </a:p>
          <a:p>
            <a:pPr algn="ctr">
              <a:tabLst>
                <a:tab pos="347663" algn="l"/>
              </a:tabLst>
            </a:pPr>
            <a:r>
              <a:rPr lang="en-US" sz="4000" b="1" dirty="0">
                <a:solidFill>
                  <a:schemeClr val="bg1"/>
                </a:solidFill>
                <a:latin typeface="+mj-lt"/>
              </a:rPr>
              <a:t>AND THEIR ATTRACTIONS </a:t>
            </a:r>
          </a:p>
        </p:txBody>
      </p:sp>
      <p:sp>
        <p:nvSpPr>
          <p:cNvPr id="22" name="TextBox 21">
            <a:extLst>
              <a:ext uri="{FF2B5EF4-FFF2-40B4-BE49-F238E27FC236}">
                <a16:creationId xmlns:a16="http://schemas.microsoft.com/office/drawing/2014/main" id="{ECBF8DA9-B8EB-9CF3-7DAF-D4182C1F353A}"/>
              </a:ext>
            </a:extLst>
          </p:cNvPr>
          <p:cNvSpPr txBox="1"/>
          <p:nvPr/>
        </p:nvSpPr>
        <p:spPr>
          <a:xfrm>
            <a:off x="9090401" y="5920841"/>
            <a:ext cx="2566665" cy="307777"/>
          </a:xfrm>
          <a:prstGeom prst="rect">
            <a:avLst/>
          </a:prstGeom>
          <a:noFill/>
        </p:spPr>
        <p:txBody>
          <a:bodyPr wrap="none" lIns="0" tIns="0" rIns="0" bIns="0" rtlCol="0">
            <a:spAutoFit/>
          </a:bodyPr>
          <a:lstStyle/>
          <a:p>
            <a:pPr algn="ctr">
              <a:tabLst>
                <a:tab pos="347663" algn="l"/>
              </a:tabLst>
            </a:pPr>
            <a:r>
              <a:rPr lang="en-US" sz="2000" dirty="0">
                <a:solidFill>
                  <a:schemeClr val="bg1"/>
                </a:solidFill>
              </a:rPr>
              <a:t>By Kyle Salgado-Gouker</a:t>
            </a:r>
          </a:p>
        </p:txBody>
      </p:sp>
    </p:spTree>
    <p:extLst>
      <p:ext uri="{BB962C8B-B14F-4D97-AF65-F5344CB8AC3E}">
        <p14:creationId xmlns:p14="http://schemas.microsoft.com/office/powerpoint/2010/main" val="26137267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20" name="Freeform 19">
            <a:extLs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21" name="TextBox 20"/>
          <p:cNvSpPr txBox="1"/>
          <p:nvPr/>
        </p:nvSpPr>
        <p:spPr>
          <a:xfrm>
            <a:off x="11907454" y="6481180"/>
            <a:ext cx="277640" cy="307777"/>
          </a:xfrm>
          <a:prstGeom prst="rect">
            <a:avLst/>
          </a:prstGeom>
          <a:noFill/>
        </p:spPr>
        <p:txBody>
          <a:bodyPr wrap="none" rtlCol="0">
            <a:spAutoFit/>
          </a:bodyPr>
          <a:lstStyle/>
          <a:p>
            <a:r>
              <a:rPr lang="en-US" sz="1400" b="1" dirty="0">
                <a:solidFill>
                  <a:schemeClr val="bg1"/>
                </a:solidFill>
              </a:rPr>
              <a:t>2</a:t>
            </a:r>
          </a:p>
        </p:txBody>
      </p:sp>
      <p:sp>
        <p:nvSpPr>
          <p:cNvPr id="83" name="TextBox 82">
            <a:extLst>
              <a:ext uri="{FF2B5EF4-FFF2-40B4-BE49-F238E27FC236}">
                <a16:creationId xmlns:a16="http://schemas.microsoft.com/office/drawing/2014/main" id="{DCD843C5-0DBD-4721-ACAD-288CC256EF82}"/>
              </a:ext>
            </a:extLst>
          </p:cNvPr>
          <p:cNvSpPr txBox="1"/>
          <p:nvPr/>
        </p:nvSpPr>
        <p:spPr>
          <a:xfrm>
            <a:off x="1633260" y="165381"/>
            <a:ext cx="8925520" cy="984885"/>
          </a:xfrm>
          <a:prstGeom prst="rect">
            <a:avLst/>
          </a:prstGeom>
          <a:noFill/>
        </p:spPr>
        <p:txBody>
          <a:bodyPr wrap="none" lIns="0" tIns="0" rIns="0" bIns="0" rtlCol="0">
            <a:spAutoFit/>
          </a:bodyPr>
          <a:lstStyle/>
          <a:p>
            <a:pPr algn="ctr">
              <a:tabLst>
                <a:tab pos="347663" algn="l"/>
              </a:tabLst>
            </a:pPr>
            <a:r>
              <a:rPr lang="en-US" sz="3200" b="1" dirty="0">
                <a:solidFill>
                  <a:srgbClr val="30353F"/>
                </a:solidFill>
                <a:latin typeface="+mj-lt"/>
              </a:rPr>
              <a:t>CAN DATA SCIENCE PREDICT THE SUCCESS OF</a:t>
            </a:r>
          </a:p>
          <a:p>
            <a:pPr algn="ctr">
              <a:tabLst>
                <a:tab pos="347663" algn="l"/>
              </a:tabLst>
            </a:pPr>
            <a:r>
              <a:rPr lang="en-US" sz="3200" b="1" dirty="0">
                <a:solidFill>
                  <a:srgbClr val="30353F"/>
                </a:solidFill>
                <a:latin typeface="+mj-lt"/>
              </a:rPr>
              <a:t>AMUSEMENT PARK ATTRACTIONS?</a:t>
            </a:r>
          </a:p>
        </p:txBody>
      </p:sp>
      <p:sp>
        <p:nvSpPr>
          <p:cNvPr id="4" name="Title 3" hidden="1">
            <a:extLst>
              <a:ext uri="{FF2B5EF4-FFF2-40B4-BE49-F238E27FC236}">
                <a16:creationId xmlns:a16="http://schemas.microsoft.com/office/drawing/2014/main" id="{19D7E498-2D9B-4F60-93FF-25DEC5873336}"/>
              </a:ext>
            </a:extLst>
          </p:cNvPr>
          <p:cNvSpPr>
            <a:spLocks noGrp="1"/>
          </p:cNvSpPr>
          <p:nvPr>
            <p:ph type="title"/>
          </p:nvPr>
        </p:nvSpPr>
        <p:spPr/>
        <p:txBody>
          <a:bodyPr/>
          <a:lstStyle/>
          <a:p>
            <a:r>
              <a:rPr lang="en-US" dirty="0"/>
              <a:t>Slide 3</a:t>
            </a:r>
          </a:p>
        </p:txBody>
      </p:sp>
      <p:sp>
        <p:nvSpPr>
          <p:cNvPr id="18" name="Rectangle 17">
            <a:extLst>
              <a:ext uri="{FF2B5EF4-FFF2-40B4-BE49-F238E27FC236}">
                <a16:creationId xmlns:a16="http://schemas.microsoft.com/office/drawing/2014/main" id="{EE66524E-60BD-3DB2-8275-8C8D96DF6605}"/>
              </a:ext>
              <a:ext uri="{C183D7F6-B498-43B3-948B-1728B52AA6E4}">
                <adec:decorative xmlns:adec="http://schemas.microsoft.com/office/drawing/2017/decorative" val="1"/>
              </a:ext>
            </a:extLst>
          </p:cNvPr>
          <p:cNvSpPr/>
          <p:nvPr/>
        </p:nvSpPr>
        <p:spPr>
          <a:xfrm>
            <a:off x="936380" y="1732564"/>
            <a:ext cx="10476531" cy="1301647"/>
          </a:xfrm>
          <a:prstGeom prst="rect">
            <a:avLst/>
          </a:prstGeom>
          <a:gradFill flip="none" rotWithShape="1">
            <a:gsLst>
              <a:gs pos="100000">
                <a:schemeClr val="bg1"/>
              </a:gs>
              <a:gs pos="54000">
                <a:srgbClr val="515A6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DF380668-E9C0-36AF-CF3A-725A36B47E7F}"/>
              </a:ext>
              <a:ext uri="{C183D7F6-B498-43B3-948B-1728B52AA6E4}">
                <adec:decorative xmlns:adec="http://schemas.microsoft.com/office/drawing/2017/decorative" val="1"/>
              </a:ext>
            </a:extLst>
          </p:cNvPr>
          <p:cNvSpPr/>
          <p:nvPr/>
        </p:nvSpPr>
        <p:spPr>
          <a:xfrm>
            <a:off x="289648" y="1728365"/>
            <a:ext cx="1352782" cy="1301647"/>
          </a:xfrm>
          <a:prstGeom prst="ellipse">
            <a:avLst/>
          </a:prstGeom>
          <a:solidFill>
            <a:srgbClr val="30353F"/>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C017D53-4D42-D836-35F6-665E64833584}"/>
              </a:ext>
            </a:extLst>
          </p:cNvPr>
          <p:cNvSpPr txBox="1"/>
          <p:nvPr/>
        </p:nvSpPr>
        <p:spPr>
          <a:xfrm>
            <a:off x="1919633" y="2014055"/>
            <a:ext cx="8169893" cy="738664"/>
          </a:xfrm>
          <a:prstGeom prst="rect">
            <a:avLst/>
          </a:prstGeom>
          <a:noFill/>
        </p:spPr>
        <p:txBody>
          <a:bodyPr wrap="square" lIns="0" tIns="0" rIns="0" bIns="0" rtlCol="0">
            <a:spAutoFit/>
          </a:bodyPr>
          <a:lstStyle/>
          <a:p>
            <a:pPr algn="ctr"/>
            <a:r>
              <a:rPr lang="en-US" sz="2400" dirty="0">
                <a:solidFill>
                  <a:schemeClr val="bg1"/>
                </a:solidFill>
              </a:rPr>
              <a:t>The amusement park industry is a large piece of the world economy’s hospitality sector and competition for guests is keen.</a:t>
            </a:r>
            <a:endParaRPr lang="en-US" sz="1400" dirty="0">
              <a:solidFill>
                <a:schemeClr val="bg1"/>
              </a:solidFill>
            </a:endParaRPr>
          </a:p>
        </p:txBody>
      </p:sp>
      <p:pic>
        <p:nvPicPr>
          <p:cNvPr id="26" name="Picture 25" descr="A picture containing mammal&#10;&#10;Description automatically generated">
            <a:extLst>
              <a:ext uri="{FF2B5EF4-FFF2-40B4-BE49-F238E27FC236}">
                <a16:creationId xmlns:a16="http://schemas.microsoft.com/office/drawing/2014/main" id="{FA69E1B2-8BC2-3AD0-912B-1596DC96666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722" y="1976712"/>
            <a:ext cx="813176" cy="785532"/>
          </a:xfrm>
          <a:prstGeom prst="rect">
            <a:avLst/>
          </a:prstGeom>
        </p:spPr>
      </p:pic>
      <p:sp>
        <p:nvSpPr>
          <p:cNvPr id="28" name="Rectangle 27">
            <a:extLst>
              <a:ext uri="{FF2B5EF4-FFF2-40B4-BE49-F238E27FC236}">
                <a16:creationId xmlns:a16="http://schemas.microsoft.com/office/drawing/2014/main" id="{00FE6DA2-491D-42DB-8311-5E961F341745}"/>
              </a:ext>
            </a:extLst>
          </p:cNvPr>
          <p:cNvSpPr/>
          <p:nvPr/>
        </p:nvSpPr>
        <p:spPr>
          <a:xfrm>
            <a:off x="1005695" y="3331881"/>
            <a:ext cx="10407216" cy="1306793"/>
          </a:xfrm>
          <a:prstGeom prst="rect">
            <a:avLst/>
          </a:prstGeom>
          <a:gradFill flip="none" rotWithShape="1">
            <a:gsLst>
              <a:gs pos="100000">
                <a:schemeClr val="bg1"/>
              </a:gs>
              <a:gs pos="54000">
                <a:srgbClr val="DBDB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5745947D-634F-EBA3-67E0-0B8A71823EE0}"/>
              </a:ext>
            </a:extLst>
          </p:cNvPr>
          <p:cNvSpPr txBox="1"/>
          <p:nvPr/>
        </p:nvSpPr>
        <p:spPr>
          <a:xfrm>
            <a:off x="1710634" y="3390312"/>
            <a:ext cx="8848146" cy="1107996"/>
          </a:xfrm>
          <a:prstGeom prst="rect">
            <a:avLst/>
          </a:prstGeom>
          <a:noFill/>
        </p:spPr>
        <p:txBody>
          <a:bodyPr wrap="square" lIns="0" tIns="0" rIns="0" bIns="0" rtlCol="0">
            <a:spAutoFit/>
          </a:bodyPr>
          <a:lstStyle/>
          <a:p>
            <a:pPr algn="ctr"/>
            <a:r>
              <a:rPr lang="en-US" sz="2400" dirty="0"/>
              <a:t>The cost of new attractions continues to climb, and industry players must search for better ways to quantify potential guest interest </a:t>
            </a:r>
          </a:p>
          <a:p>
            <a:pPr algn="ctr"/>
            <a:r>
              <a:rPr lang="en-US" sz="2400" dirty="0"/>
              <a:t>and increase revenue.</a:t>
            </a:r>
            <a:endParaRPr lang="en-US" sz="1400" dirty="0"/>
          </a:p>
        </p:txBody>
      </p:sp>
      <p:sp>
        <p:nvSpPr>
          <p:cNvPr id="30" name="Oval 29">
            <a:extLst>
              <a:ext uri="{FF2B5EF4-FFF2-40B4-BE49-F238E27FC236}">
                <a16:creationId xmlns:a16="http://schemas.microsoft.com/office/drawing/2014/main" id="{1EA8C91F-84E5-0C26-8B61-C7662AA6CDCC}"/>
              </a:ext>
            </a:extLst>
          </p:cNvPr>
          <p:cNvSpPr/>
          <p:nvPr/>
        </p:nvSpPr>
        <p:spPr>
          <a:xfrm>
            <a:off x="300729" y="3331880"/>
            <a:ext cx="1352781" cy="1306793"/>
          </a:xfrm>
          <a:prstGeom prst="ellipse">
            <a:avLst/>
          </a:prstGeom>
          <a:solidFill>
            <a:srgbClr val="CFCFCF"/>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Stack Of Dollar Bills Money transparent PNG - StickPNG">
            <a:extLst>
              <a:ext uri="{FF2B5EF4-FFF2-40B4-BE49-F238E27FC236}">
                <a16:creationId xmlns:a16="http://schemas.microsoft.com/office/drawing/2014/main" id="{90875E2F-C304-DA27-2959-0F081FEDDCB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732" y="3687028"/>
            <a:ext cx="1063923" cy="653977"/>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2">
            <a:extLst>
              <a:ext uri="{FF2B5EF4-FFF2-40B4-BE49-F238E27FC236}">
                <a16:creationId xmlns:a16="http://schemas.microsoft.com/office/drawing/2014/main" id="{ACDDC2D5-1633-9748-7D0B-29A91E583BB1}"/>
              </a:ext>
            </a:extLst>
          </p:cNvPr>
          <p:cNvSpPr/>
          <p:nvPr/>
        </p:nvSpPr>
        <p:spPr>
          <a:xfrm>
            <a:off x="1005693" y="4993820"/>
            <a:ext cx="10407215" cy="1306793"/>
          </a:xfrm>
          <a:prstGeom prst="rect">
            <a:avLst/>
          </a:prstGeom>
          <a:gradFill flip="none" rotWithShape="1">
            <a:gsLst>
              <a:gs pos="100000">
                <a:schemeClr val="bg1"/>
              </a:gs>
              <a:gs pos="54000">
                <a:srgbClr val="85E0E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3A4F592B-509A-BCB3-EBCC-069FCE7BC78A}"/>
              </a:ext>
            </a:extLst>
          </p:cNvPr>
          <p:cNvSpPr/>
          <p:nvPr/>
        </p:nvSpPr>
        <p:spPr>
          <a:xfrm>
            <a:off x="357853" y="4993820"/>
            <a:ext cx="1352781" cy="1306793"/>
          </a:xfrm>
          <a:prstGeom prst="ellipse">
            <a:avLst/>
          </a:prstGeom>
          <a:solidFill>
            <a:srgbClr val="43CDD9"/>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5">
            <a:extLst>
              <a:ext uri="{FF2B5EF4-FFF2-40B4-BE49-F238E27FC236}">
                <a16:creationId xmlns:a16="http://schemas.microsoft.com/office/drawing/2014/main" id="{4DBB08EE-0AE2-65CC-2578-79D91DDA8170}"/>
              </a:ext>
            </a:extLst>
          </p:cNvPr>
          <p:cNvSpPr>
            <a:spLocks noEditPoints="1"/>
          </p:cNvSpPr>
          <p:nvPr/>
        </p:nvSpPr>
        <p:spPr bwMode="auto">
          <a:xfrm>
            <a:off x="683227" y="5467350"/>
            <a:ext cx="854428" cy="380999"/>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TextBox 36">
            <a:extLst>
              <a:ext uri="{FF2B5EF4-FFF2-40B4-BE49-F238E27FC236}">
                <a16:creationId xmlns:a16="http://schemas.microsoft.com/office/drawing/2014/main" id="{4DF7098A-3AD4-516D-8939-38F0E4D48D62}"/>
              </a:ext>
            </a:extLst>
          </p:cNvPr>
          <p:cNvSpPr txBox="1"/>
          <p:nvPr/>
        </p:nvSpPr>
        <p:spPr>
          <a:xfrm>
            <a:off x="1785227" y="5288517"/>
            <a:ext cx="8848146" cy="738664"/>
          </a:xfrm>
          <a:prstGeom prst="rect">
            <a:avLst/>
          </a:prstGeom>
          <a:noFill/>
        </p:spPr>
        <p:txBody>
          <a:bodyPr wrap="square" lIns="0" tIns="0" rIns="0" bIns="0" rtlCol="0">
            <a:spAutoFit/>
          </a:bodyPr>
          <a:lstStyle/>
          <a:p>
            <a:pPr algn="ctr"/>
            <a:r>
              <a:rPr lang="en-US" sz="2400" dirty="0"/>
              <a:t>Google Trends may provide new insight to help predict success of theme park attractions and ensure better outcomes.</a:t>
            </a:r>
            <a:endParaRPr lang="en-US" sz="1400" dirty="0"/>
          </a:p>
        </p:txBody>
      </p:sp>
    </p:spTree>
    <p:extLst>
      <p:ext uri="{BB962C8B-B14F-4D97-AF65-F5344CB8AC3E}">
        <p14:creationId xmlns:p14="http://schemas.microsoft.com/office/powerpoint/2010/main" val="8588006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110" name="TextBox 109"/>
          <p:cNvSpPr txBox="1"/>
          <p:nvPr/>
        </p:nvSpPr>
        <p:spPr>
          <a:xfrm>
            <a:off x="1419272" y="165381"/>
            <a:ext cx="9353523" cy="461665"/>
          </a:xfrm>
          <a:prstGeom prst="rect">
            <a:avLst/>
          </a:prstGeom>
          <a:noFill/>
        </p:spPr>
        <p:txBody>
          <a:bodyPr wrap="none" lIns="0" tIns="0" rIns="0" bIns="0" rtlCol="0">
            <a:spAutoFit/>
          </a:bodyPr>
          <a:lstStyle/>
          <a:p>
            <a:pPr algn="ctr">
              <a:tabLst>
                <a:tab pos="347663" algn="l"/>
              </a:tabLst>
            </a:pPr>
            <a:r>
              <a:rPr lang="en-US" sz="3000" b="1" dirty="0">
                <a:solidFill>
                  <a:srgbClr val="30353F"/>
                </a:solidFill>
                <a:latin typeface="+mj-lt"/>
              </a:rPr>
              <a:t>POPULARITY OF THEMED x UNTHEMED ATTRACTIONS</a:t>
            </a:r>
          </a:p>
        </p:txBody>
      </p:sp>
      <p:sp>
        <p:nvSpPr>
          <p:cNvPr id="155" name="Rectangle 154">
            <a:extLst>
              <a:ext uri="{C183D7F6-B498-43B3-948B-1728B52AA6E4}">
                <adec:decorative xmlns:adec="http://schemas.microsoft.com/office/drawing/2017/decorative" val="1"/>
              </a:ext>
            </a:extLst>
          </p:cNvPr>
          <p:cNvSpPr/>
          <p:nvPr/>
        </p:nvSpPr>
        <p:spPr>
          <a:xfrm>
            <a:off x="554991" y="906450"/>
            <a:ext cx="5527152" cy="3217755"/>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1" name="Group 60" descr="This is an icon of a chart. "/>
          <p:cNvGrpSpPr/>
          <p:nvPr/>
        </p:nvGrpSpPr>
        <p:grpSpPr>
          <a:xfrm>
            <a:off x="9178091" y="4509010"/>
            <a:ext cx="377200" cy="179334"/>
            <a:chOff x="4254500" y="2100263"/>
            <a:chExt cx="1906588" cy="906463"/>
          </a:xfrm>
        </p:grpSpPr>
        <p:sp>
          <p:nvSpPr>
            <p:cNvPr id="62" name="Freeform 5"/>
            <p:cNvSpPr>
              <a:spLocks noEditPoints="1"/>
            </p:cNvSpPr>
            <p:nvPr/>
          </p:nvSpPr>
          <p:spPr bwMode="auto">
            <a:xfrm>
              <a:off x="4254500" y="2100263"/>
              <a:ext cx="1906588" cy="906463"/>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3" name="Freeform 6"/>
            <p:cNvSpPr>
              <a:spLocks/>
            </p:cNvSpPr>
            <p:nvPr/>
          </p:nvSpPr>
          <p:spPr bwMode="auto">
            <a:xfrm>
              <a:off x="4752975" y="2598738"/>
              <a:ext cx="176213" cy="174625"/>
            </a:xfrm>
            <a:custGeom>
              <a:avLst/>
              <a:gdLst>
                <a:gd name="T0" fmla="*/ 172 w 190"/>
                <a:gd name="T1" fmla="*/ 18 h 186"/>
                <a:gd name="T2" fmla="*/ 109 w 190"/>
                <a:gd name="T3" fmla="*/ 18 h 186"/>
                <a:gd name="T4" fmla="*/ 17 w 190"/>
                <a:gd name="T5" fmla="*/ 109 h 186"/>
                <a:gd name="T6" fmla="*/ 17 w 190"/>
                <a:gd name="T7" fmla="*/ 173 h 186"/>
                <a:gd name="T8" fmla="*/ 49 w 190"/>
                <a:gd name="T9" fmla="*/ 186 h 186"/>
                <a:gd name="T10" fmla="*/ 81 w 190"/>
                <a:gd name="T11" fmla="*/ 173 h 186"/>
                <a:gd name="T12" fmla="*/ 172 w 190"/>
                <a:gd name="T13" fmla="*/ 81 h 186"/>
                <a:gd name="T14" fmla="*/ 172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2" y="18"/>
                  </a:moveTo>
                  <a:cubicBezTo>
                    <a:pt x="155" y="0"/>
                    <a:pt x="126" y="0"/>
                    <a:pt x="109" y="18"/>
                  </a:cubicBezTo>
                  <a:cubicBezTo>
                    <a:pt x="17" y="109"/>
                    <a:pt x="17" y="109"/>
                    <a:pt x="17" y="109"/>
                  </a:cubicBezTo>
                  <a:cubicBezTo>
                    <a:pt x="0" y="127"/>
                    <a:pt x="0" y="155"/>
                    <a:pt x="17" y="173"/>
                  </a:cubicBezTo>
                  <a:cubicBezTo>
                    <a:pt x="26" y="182"/>
                    <a:pt x="37" y="186"/>
                    <a:pt x="49" y="186"/>
                  </a:cubicBezTo>
                  <a:cubicBezTo>
                    <a:pt x="60" y="186"/>
                    <a:pt x="72" y="182"/>
                    <a:pt x="81" y="173"/>
                  </a:cubicBezTo>
                  <a:cubicBezTo>
                    <a:pt x="172" y="81"/>
                    <a:pt x="172" y="81"/>
                    <a:pt x="172" y="81"/>
                  </a:cubicBezTo>
                  <a:cubicBezTo>
                    <a:pt x="190" y="64"/>
                    <a:pt x="190" y="35"/>
                    <a:pt x="172"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4" name="Freeform 7"/>
            <p:cNvSpPr>
              <a:spLocks/>
            </p:cNvSpPr>
            <p:nvPr/>
          </p:nvSpPr>
          <p:spPr bwMode="auto">
            <a:xfrm>
              <a:off x="5486400" y="2330451"/>
              <a:ext cx="177800" cy="174625"/>
            </a:xfrm>
            <a:custGeom>
              <a:avLst/>
              <a:gdLst>
                <a:gd name="T0" fmla="*/ 173 w 190"/>
                <a:gd name="T1" fmla="*/ 18 h 186"/>
                <a:gd name="T2" fmla="*/ 109 w 190"/>
                <a:gd name="T3" fmla="*/ 18 h 186"/>
                <a:gd name="T4" fmla="*/ 18 w 190"/>
                <a:gd name="T5" fmla="*/ 109 h 186"/>
                <a:gd name="T6" fmla="*/ 18 w 190"/>
                <a:gd name="T7" fmla="*/ 173 h 186"/>
                <a:gd name="T8" fmla="*/ 50 w 190"/>
                <a:gd name="T9" fmla="*/ 186 h 186"/>
                <a:gd name="T10" fmla="*/ 81 w 190"/>
                <a:gd name="T11" fmla="*/ 173 h 186"/>
                <a:gd name="T12" fmla="*/ 173 w 190"/>
                <a:gd name="T13" fmla="*/ 81 h 186"/>
                <a:gd name="T14" fmla="*/ 173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3" y="18"/>
                  </a:moveTo>
                  <a:cubicBezTo>
                    <a:pt x="155" y="0"/>
                    <a:pt x="127" y="0"/>
                    <a:pt x="109" y="18"/>
                  </a:cubicBezTo>
                  <a:cubicBezTo>
                    <a:pt x="18" y="109"/>
                    <a:pt x="18" y="109"/>
                    <a:pt x="18" y="109"/>
                  </a:cubicBezTo>
                  <a:cubicBezTo>
                    <a:pt x="0" y="127"/>
                    <a:pt x="0" y="155"/>
                    <a:pt x="18" y="173"/>
                  </a:cubicBezTo>
                  <a:cubicBezTo>
                    <a:pt x="27" y="182"/>
                    <a:pt x="38" y="186"/>
                    <a:pt x="50" y="186"/>
                  </a:cubicBezTo>
                  <a:cubicBezTo>
                    <a:pt x="61" y="186"/>
                    <a:pt x="73" y="181"/>
                    <a:pt x="81" y="173"/>
                  </a:cubicBezTo>
                  <a:cubicBezTo>
                    <a:pt x="173" y="81"/>
                    <a:pt x="173" y="81"/>
                    <a:pt x="173" y="81"/>
                  </a:cubicBezTo>
                  <a:cubicBezTo>
                    <a:pt x="190" y="64"/>
                    <a:pt x="190" y="35"/>
                    <a:pt x="173"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30" name="Freeform 19">
            <a:extLst>
              <a:ext uri="{FF2B5EF4-FFF2-40B4-BE49-F238E27FC236}">
                <a16:creationId xmlns:a16="http://schemas.microsoft.com/office/drawing/2014/main" id="{189E3C56-F900-44E7-BF74-7509E4A585C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33" name="TextBox 32">
            <a:extLst>
              <a:ext uri="{FF2B5EF4-FFF2-40B4-BE49-F238E27FC236}">
                <a16:creationId xmlns:a16="http://schemas.microsoft.com/office/drawing/2014/main" id="{5C7F3CEE-E6DF-48C0-8B9A-22A03DF4C29B}"/>
              </a:ext>
            </a:extLst>
          </p:cNvPr>
          <p:cNvSpPr txBox="1"/>
          <p:nvPr/>
        </p:nvSpPr>
        <p:spPr>
          <a:xfrm>
            <a:off x="11907454" y="6481180"/>
            <a:ext cx="277640" cy="307777"/>
          </a:xfrm>
          <a:prstGeom prst="rect">
            <a:avLst/>
          </a:prstGeom>
          <a:noFill/>
        </p:spPr>
        <p:txBody>
          <a:bodyPr wrap="none" rtlCol="0">
            <a:spAutoFit/>
          </a:bodyPr>
          <a:lstStyle/>
          <a:p>
            <a:r>
              <a:rPr lang="en-US" sz="1400" b="1" dirty="0">
                <a:solidFill>
                  <a:schemeClr val="bg1"/>
                </a:solidFill>
              </a:rPr>
              <a:t>3</a:t>
            </a:r>
          </a:p>
        </p:txBody>
      </p:sp>
      <p:sp>
        <p:nvSpPr>
          <p:cNvPr id="2" name="Title 1" hidden="1">
            <a:extLst>
              <a:ext uri="{FF2B5EF4-FFF2-40B4-BE49-F238E27FC236}">
                <a16:creationId xmlns:a16="http://schemas.microsoft.com/office/drawing/2014/main" id="{57154957-68AB-414D-8F5B-A49D3A2612B1}"/>
              </a:ext>
            </a:extLst>
          </p:cNvPr>
          <p:cNvSpPr>
            <a:spLocks noGrp="1"/>
          </p:cNvSpPr>
          <p:nvPr>
            <p:ph type="title"/>
          </p:nvPr>
        </p:nvSpPr>
        <p:spPr/>
        <p:txBody>
          <a:bodyPr/>
          <a:lstStyle/>
          <a:p>
            <a:r>
              <a:rPr lang="en-US" dirty="0"/>
              <a:t>Slide 2</a:t>
            </a:r>
          </a:p>
        </p:txBody>
      </p:sp>
      <p:sp>
        <p:nvSpPr>
          <p:cNvPr id="13" name="Rectangle 12">
            <a:extLst>
              <a:ext uri="{FF2B5EF4-FFF2-40B4-BE49-F238E27FC236}">
                <a16:creationId xmlns:a16="http://schemas.microsoft.com/office/drawing/2014/main" id="{4EDDCBA4-2E61-3DC9-0037-7AB87C5DC00B}"/>
              </a:ext>
              <a:ext uri="{C183D7F6-B498-43B3-948B-1728B52AA6E4}">
                <adec:decorative xmlns:adec="http://schemas.microsoft.com/office/drawing/2017/decorative" val="1"/>
              </a:ext>
            </a:extLst>
          </p:cNvPr>
          <p:cNvSpPr/>
          <p:nvPr/>
        </p:nvSpPr>
        <p:spPr>
          <a:xfrm>
            <a:off x="7913077" y="967822"/>
            <a:ext cx="3672071" cy="2206201"/>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512F0323-24D5-A1E0-8096-840DA5A051A6}"/>
              </a:ext>
            </a:extLst>
          </p:cNvPr>
          <p:cNvSpPr txBox="1"/>
          <p:nvPr/>
        </p:nvSpPr>
        <p:spPr>
          <a:xfrm>
            <a:off x="8409215" y="1036291"/>
            <a:ext cx="2679794" cy="215444"/>
          </a:xfrm>
          <a:prstGeom prst="rect">
            <a:avLst/>
          </a:prstGeom>
          <a:noFill/>
        </p:spPr>
        <p:txBody>
          <a:bodyPr wrap="square" lIns="0" tIns="0" rIns="0" bIns="0" rtlCol="0">
            <a:spAutoFit/>
          </a:bodyPr>
          <a:lstStyle/>
          <a:p>
            <a:pPr algn="ctr"/>
            <a:r>
              <a:rPr lang="en-US" sz="1400" dirty="0"/>
              <a:t>Google Trends Comparison:</a:t>
            </a:r>
          </a:p>
        </p:txBody>
      </p:sp>
      <p:cxnSp>
        <p:nvCxnSpPr>
          <p:cNvPr id="19" name="Elbow Connector 3">
            <a:extLst>
              <a:ext uri="{FF2B5EF4-FFF2-40B4-BE49-F238E27FC236}">
                <a16:creationId xmlns:a16="http://schemas.microsoft.com/office/drawing/2014/main" id="{6C42016B-FEB0-A2E0-9A3E-9EE442396D0F}"/>
              </a:ext>
              <a:ext uri="{C183D7F6-B498-43B3-948B-1728B52AA6E4}">
                <adec:decorative xmlns:adec="http://schemas.microsoft.com/office/drawing/2017/decorative" val="1"/>
              </a:ext>
            </a:extLst>
          </p:cNvPr>
          <p:cNvCxnSpPr>
            <a:cxnSpLocks/>
          </p:cNvCxnSpPr>
          <p:nvPr/>
        </p:nvCxnSpPr>
        <p:spPr>
          <a:xfrm flipV="1">
            <a:off x="6041446" y="1876425"/>
            <a:ext cx="1967696" cy="400917"/>
          </a:xfrm>
          <a:prstGeom prst="bentConnector3">
            <a:avLst>
              <a:gd name="adj1" fmla="val 36930"/>
            </a:avLst>
          </a:prstGeom>
          <a:ln>
            <a:solidFill>
              <a:srgbClr val="30353F"/>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F8A2B696-E8D9-6851-1FCB-25F1EB6BB535}"/>
              </a:ext>
              <a:ext uri="{C183D7F6-B498-43B3-948B-1728B52AA6E4}">
                <adec:decorative xmlns:adec="http://schemas.microsoft.com/office/drawing/2017/decorative" val="1"/>
              </a:ext>
            </a:extLst>
          </p:cNvPr>
          <p:cNvSpPr/>
          <p:nvPr/>
        </p:nvSpPr>
        <p:spPr>
          <a:xfrm>
            <a:off x="6252530" y="3374089"/>
            <a:ext cx="5527152" cy="2997755"/>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284B43FC-6A06-179D-BE2C-465C8BF55A10}"/>
              </a:ext>
              <a:ext uri="{C183D7F6-B498-43B3-948B-1728B52AA6E4}">
                <adec:decorative xmlns:adec="http://schemas.microsoft.com/office/drawing/2017/decorative" val="1"/>
              </a:ext>
            </a:extLst>
          </p:cNvPr>
          <p:cNvSpPr/>
          <p:nvPr/>
        </p:nvSpPr>
        <p:spPr>
          <a:xfrm>
            <a:off x="726530" y="4688344"/>
            <a:ext cx="3352181" cy="1406909"/>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2" name="Elbow Connector 3">
            <a:extLst>
              <a:ext uri="{FF2B5EF4-FFF2-40B4-BE49-F238E27FC236}">
                <a16:creationId xmlns:a16="http://schemas.microsoft.com/office/drawing/2014/main" id="{69BEFFAD-3BB3-3036-BC22-F4537F0C5E60}"/>
              </a:ext>
              <a:ext uri="{C183D7F6-B498-43B3-948B-1728B52AA6E4}">
                <adec:decorative xmlns:adec="http://schemas.microsoft.com/office/drawing/2017/decorative" val="1"/>
              </a:ext>
            </a:extLst>
          </p:cNvPr>
          <p:cNvCxnSpPr>
            <a:cxnSpLocks/>
          </p:cNvCxnSpPr>
          <p:nvPr/>
        </p:nvCxnSpPr>
        <p:spPr>
          <a:xfrm flipV="1">
            <a:off x="4049501" y="5094180"/>
            <a:ext cx="2203029" cy="397369"/>
          </a:xfrm>
          <a:prstGeom prst="bentConnector3">
            <a:avLst>
              <a:gd name="adj1" fmla="val 67294"/>
            </a:avLst>
          </a:prstGeom>
          <a:ln>
            <a:solidFill>
              <a:srgbClr val="30353F"/>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6A43EE73-BE1E-6D06-6685-3FF96A89AA15}"/>
              </a:ext>
            </a:extLst>
          </p:cNvPr>
          <p:cNvSpPr txBox="1"/>
          <p:nvPr/>
        </p:nvSpPr>
        <p:spPr>
          <a:xfrm>
            <a:off x="8068625" y="1317610"/>
            <a:ext cx="3360974" cy="1508105"/>
          </a:xfrm>
          <a:prstGeom prst="rect">
            <a:avLst/>
          </a:prstGeom>
          <a:noFill/>
        </p:spPr>
        <p:txBody>
          <a:bodyPr wrap="square" lIns="0" tIns="0" rIns="0" bIns="0" rtlCol="0">
            <a:spAutoFit/>
          </a:bodyPr>
          <a:lstStyle/>
          <a:p>
            <a:pPr algn="ctr"/>
            <a:r>
              <a:rPr lang="en-US" sz="1400" dirty="0"/>
              <a:t>Comparison of the popularity of three Florida coasters with the Wizarding World of Harry Potter shows the dominance of themed lands. Not all popularity is positive: The spikes of SheiKra in 2016 arose when the ride was stuck 200 ft in the air. Likewise, </a:t>
            </a:r>
            <a:r>
              <a:rPr lang="en-US" sz="1400" dirty="0" err="1"/>
              <a:t>Rockit’s</a:t>
            </a:r>
            <a:r>
              <a:rPr lang="en-US" sz="1400" dirty="0"/>
              <a:t> spike in 2013 came from a similar event.</a:t>
            </a:r>
          </a:p>
        </p:txBody>
      </p:sp>
      <p:pic>
        <p:nvPicPr>
          <p:cNvPr id="4" name="Picture 3" descr="Graphical user interface, application&#10;&#10;Description automatically generated">
            <a:extLst>
              <a:ext uri="{FF2B5EF4-FFF2-40B4-BE49-F238E27FC236}">
                <a16:creationId xmlns:a16="http://schemas.microsoft.com/office/drawing/2014/main" id="{DD5EA6A4-AF42-CAB1-2DC9-D295E8C612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7352" y="1025839"/>
            <a:ext cx="5375706" cy="2962414"/>
          </a:xfrm>
          <a:prstGeom prst="rect">
            <a:avLst/>
          </a:prstGeom>
        </p:spPr>
      </p:pic>
      <p:pic>
        <p:nvPicPr>
          <p:cNvPr id="6" name="Picture 5" descr="Graphical user interface&#10;&#10;Description automatically generated">
            <a:extLst>
              <a:ext uri="{FF2B5EF4-FFF2-40B4-BE49-F238E27FC236}">
                <a16:creationId xmlns:a16="http://schemas.microsoft.com/office/drawing/2014/main" id="{EC67B08C-8F18-705D-6224-10F6B968B09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44286" y="3485171"/>
            <a:ext cx="5308646" cy="2750142"/>
          </a:xfrm>
          <a:prstGeom prst="rect">
            <a:avLst/>
          </a:prstGeom>
        </p:spPr>
      </p:pic>
      <p:sp>
        <p:nvSpPr>
          <p:cNvPr id="7" name="TextBox 6">
            <a:extLst>
              <a:ext uri="{FF2B5EF4-FFF2-40B4-BE49-F238E27FC236}">
                <a16:creationId xmlns:a16="http://schemas.microsoft.com/office/drawing/2014/main" id="{EA80D784-1656-91B0-211A-11CDACDACE90}"/>
              </a:ext>
            </a:extLst>
          </p:cNvPr>
          <p:cNvSpPr txBox="1"/>
          <p:nvPr/>
        </p:nvSpPr>
        <p:spPr>
          <a:xfrm>
            <a:off x="1038515" y="4797000"/>
            <a:ext cx="2691220" cy="1077218"/>
          </a:xfrm>
          <a:prstGeom prst="rect">
            <a:avLst/>
          </a:prstGeom>
          <a:noFill/>
        </p:spPr>
        <p:txBody>
          <a:bodyPr wrap="square" lIns="0" tIns="0" rIns="0" bIns="0" rtlCol="0">
            <a:spAutoFit/>
          </a:bodyPr>
          <a:lstStyle/>
          <a:p>
            <a:pPr algn="ctr"/>
            <a:r>
              <a:rPr lang="en-US" sz="1400" dirty="0"/>
              <a:t>In Universal, a comparison of two attractions (one, a roller coaster, and the other, a themed land) shows the dramatic dominance of themed lands over thrill coasters.</a:t>
            </a:r>
          </a:p>
        </p:txBody>
      </p:sp>
    </p:spTree>
    <p:extLst>
      <p:ext uri="{BB962C8B-B14F-4D97-AF65-F5344CB8AC3E}">
        <p14:creationId xmlns:p14="http://schemas.microsoft.com/office/powerpoint/2010/main" val="126027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110" name="TextBox 109"/>
          <p:cNvSpPr txBox="1"/>
          <p:nvPr/>
        </p:nvSpPr>
        <p:spPr>
          <a:xfrm>
            <a:off x="1276596" y="165381"/>
            <a:ext cx="9638857" cy="461665"/>
          </a:xfrm>
          <a:prstGeom prst="rect">
            <a:avLst/>
          </a:prstGeom>
          <a:noFill/>
        </p:spPr>
        <p:txBody>
          <a:bodyPr wrap="none" lIns="0" tIns="0" rIns="0" bIns="0" rtlCol="0">
            <a:spAutoFit/>
          </a:bodyPr>
          <a:lstStyle/>
          <a:p>
            <a:pPr algn="ctr">
              <a:tabLst>
                <a:tab pos="347663" algn="l"/>
              </a:tabLst>
            </a:pPr>
            <a:r>
              <a:rPr lang="en-US" sz="3000" b="1" dirty="0">
                <a:solidFill>
                  <a:srgbClr val="30353F"/>
                </a:solidFill>
                <a:latin typeface="+mj-lt"/>
              </a:rPr>
              <a:t>DOMESTIC POPULARITY OF ATTRACTIONS AND PARKS</a:t>
            </a:r>
          </a:p>
        </p:txBody>
      </p:sp>
      <p:sp>
        <p:nvSpPr>
          <p:cNvPr id="155" name="Rectangle 154">
            <a:extLst>
              <a:ext uri="{C183D7F6-B498-43B3-948B-1728B52AA6E4}">
                <adec:decorative xmlns:adec="http://schemas.microsoft.com/office/drawing/2017/decorative" val="1"/>
              </a:ext>
            </a:extLst>
          </p:cNvPr>
          <p:cNvSpPr/>
          <p:nvPr/>
        </p:nvSpPr>
        <p:spPr>
          <a:xfrm>
            <a:off x="302580" y="952495"/>
            <a:ext cx="7023506" cy="2428293"/>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19">
            <a:extLst>
              <a:ext uri="{FF2B5EF4-FFF2-40B4-BE49-F238E27FC236}">
                <a16:creationId xmlns:a16="http://schemas.microsoft.com/office/drawing/2014/main" id="{189E3C56-F900-44E7-BF74-7509E4A585C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33" name="TextBox 32">
            <a:extLst>
              <a:ext uri="{FF2B5EF4-FFF2-40B4-BE49-F238E27FC236}">
                <a16:creationId xmlns:a16="http://schemas.microsoft.com/office/drawing/2014/main" id="{5C7F3CEE-E6DF-48C0-8B9A-22A03DF4C29B}"/>
              </a:ext>
            </a:extLst>
          </p:cNvPr>
          <p:cNvSpPr txBox="1"/>
          <p:nvPr/>
        </p:nvSpPr>
        <p:spPr>
          <a:xfrm>
            <a:off x="11907454" y="6481180"/>
            <a:ext cx="280846" cy="307777"/>
          </a:xfrm>
          <a:prstGeom prst="rect">
            <a:avLst/>
          </a:prstGeom>
          <a:noFill/>
        </p:spPr>
        <p:txBody>
          <a:bodyPr wrap="none" rtlCol="0">
            <a:spAutoFit/>
          </a:bodyPr>
          <a:lstStyle/>
          <a:p>
            <a:r>
              <a:rPr lang="en-US" sz="1400" b="1" dirty="0">
                <a:solidFill>
                  <a:schemeClr val="bg1"/>
                </a:solidFill>
              </a:rPr>
              <a:t>4</a:t>
            </a:r>
          </a:p>
        </p:txBody>
      </p:sp>
      <p:sp>
        <p:nvSpPr>
          <p:cNvPr id="2" name="Title 1" hidden="1">
            <a:extLst>
              <a:ext uri="{FF2B5EF4-FFF2-40B4-BE49-F238E27FC236}">
                <a16:creationId xmlns:a16="http://schemas.microsoft.com/office/drawing/2014/main" id="{57154957-68AB-414D-8F5B-A49D3A2612B1}"/>
              </a:ext>
            </a:extLst>
          </p:cNvPr>
          <p:cNvSpPr>
            <a:spLocks noGrp="1"/>
          </p:cNvSpPr>
          <p:nvPr>
            <p:ph type="title"/>
          </p:nvPr>
        </p:nvSpPr>
        <p:spPr/>
        <p:txBody>
          <a:bodyPr/>
          <a:lstStyle/>
          <a:p>
            <a:r>
              <a:rPr lang="en-US" dirty="0"/>
              <a:t>Slide 2</a:t>
            </a:r>
          </a:p>
        </p:txBody>
      </p:sp>
      <p:sp>
        <p:nvSpPr>
          <p:cNvPr id="13" name="Rectangle 12">
            <a:extLst>
              <a:ext uri="{FF2B5EF4-FFF2-40B4-BE49-F238E27FC236}">
                <a16:creationId xmlns:a16="http://schemas.microsoft.com/office/drawing/2014/main" id="{4EDDCBA4-2E61-3DC9-0037-7AB87C5DC00B}"/>
              </a:ext>
              <a:ext uri="{C183D7F6-B498-43B3-948B-1728B52AA6E4}">
                <adec:decorative xmlns:adec="http://schemas.microsoft.com/office/drawing/2017/decorative" val="1"/>
              </a:ext>
            </a:extLst>
          </p:cNvPr>
          <p:cNvSpPr/>
          <p:nvPr/>
        </p:nvSpPr>
        <p:spPr>
          <a:xfrm>
            <a:off x="8428663" y="1138702"/>
            <a:ext cx="2839412" cy="1842622"/>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512F0323-24D5-A1E0-8096-840DA5A051A6}"/>
              </a:ext>
            </a:extLst>
          </p:cNvPr>
          <p:cNvSpPr txBox="1"/>
          <p:nvPr/>
        </p:nvSpPr>
        <p:spPr>
          <a:xfrm>
            <a:off x="8748417" y="1469466"/>
            <a:ext cx="2278509" cy="1077218"/>
          </a:xfrm>
          <a:prstGeom prst="rect">
            <a:avLst/>
          </a:prstGeom>
          <a:noFill/>
        </p:spPr>
        <p:txBody>
          <a:bodyPr wrap="square" lIns="0" tIns="0" rIns="0" bIns="0" rtlCol="0">
            <a:spAutoFit/>
          </a:bodyPr>
          <a:lstStyle/>
          <a:p>
            <a:pPr algn="ctr"/>
            <a:r>
              <a:rPr lang="en-US" sz="1400" dirty="0"/>
              <a:t>Google Trends compares online popularity of three Florida coasters with a themed land, revealing the dominance of the Wizarding World.</a:t>
            </a:r>
          </a:p>
        </p:txBody>
      </p:sp>
      <p:cxnSp>
        <p:nvCxnSpPr>
          <p:cNvPr id="19" name="Elbow Connector 3">
            <a:extLst>
              <a:ext uri="{FF2B5EF4-FFF2-40B4-BE49-F238E27FC236}">
                <a16:creationId xmlns:a16="http://schemas.microsoft.com/office/drawing/2014/main" id="{6C42016B-FEB0-A2E0-9A3E-9EE442396D0F}"/>
              </a:ext>
              <a:ext uri="{C183D7F6-B498-43B3-948B-1728B52AA6E4}">
                <adec:decorative xmlns:adec="http://schemas.microsoft.com/office/drawing/2017/decorative" val="1"/>
              </a:ext>
            </a:extLst>
          </p:cNvPr>
          <p:cNvCxnSpPr>
            <a:cxnSpLocks/>
          </p:cNvCxnSpPr>
          <p:nvPr/>
        </p:nvCxnSpPr>
        <p:spPr>
          <a:xfrm flipV="1">
            <a:off x="7297511" y="1849509"/>
            <a:ext cx="1181182" cy="317133"/>
          </a:xfrm>
          <a:prstGeom prst="bentConnector3">
            <a:avLst>
              <a:gd name="adj1" fmla="val 50000"/>
            </a:avLst>
          </a:prstGeom>
          <a:ln>
            <a:solidFill>
              <a:srgbClr val="30353F"/>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284B43FC-6A06-179D-BE2C-465C8BF55A10}"/>
              </a:ext>
              <a:ext uri="{C183D7F6-B498-43B3-948B-1728B52AA6E4}">
                <adec:decorative xmlns:adec="http://schemas.microsoft.com/office/drawing/2017/decorative" val="1"/>
              </a:ext>
            </a:extLst>
          </p:cNvPr>
          <p:cNvSpPr/>
          <p:nvPr/>
        </p:nvSpPr>
        <p:spPr>
          <a:xfrm>
            <a:off x="980992" y="4048126"/>
            <a:ext cx="3352181" cy="1857380"/>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2" name="Elbow Connector 3">
            <a:extLst>
              <a:ext uri="{FF2B5EF4-FFF2-40B4-BE49-F238E27FC236}">
                <a16:creationId xmlns:a16="http://schemas.microsoft.com/office/drawing/2014/main" id="{69BEFFAD-3BB3-3036-BC22-F4537F0C5E60}"/>
              </a:ext>
              <a:ext uri="{C183D7F6-B498-43B3-948B-1728B52AA6E4}">
                <adec:decorative xmlns:adec="http://schemas.microsoft.com/office/drawing/2017/decorative" val="1"/>
              </a:ext>
            </a:extLst>
          </p:cNvPr>
          <p:cNvCxnSpPr>
            <a:cxnSpLocks/>
            <a:stCxn id="21" idx="3"/>
          </p:cNvCxnSpPr>
          <p:nvPr/>
        </p:nvCxnSpPr>
        <p:spPr>
          <a:xfrm>
            <a:off x="4333173" y="4976816"/>
            <a:ext cx="1403597" cy="390138"/>
          </a:xfrm>
          <a:prstGeom prst="bentConnector3">
            <a:avLst>
              <a:gd name="adj1" fmla="val 50000"/>
            </a:avLst>
          </a:prstGeom>
          <a:ln>
            <a:solidFill>
              <a:srgbClr val="30353F"/>
            </a:solidFill>
          </a:ln>
        </p:spPr>
        <p:style>
          <a:lnRef idx="1">
            <a:schemeClr val="accent1"/>
          </a:lnRef>
          <a:fillRef idx="0">
            <a:schemeClr val="accent1"/>
          </a:fillRef>
          <a:effectRef idx="0">
            <a:schemeClr val="accent1"/>
          </a:effectRef>
          <a:fontRef idx="minor">
            <a:schemeClr val="tx1"/>
          </a:fontRef>
        </p:style>
      </p:cxnSp>
      <p:pic>
        <p:nvPicPr>
          <p:cNvPr id="7" name="Picture 6" descr="Map&#10;&#10;Description automatically generated">
            <a:extLst>
              <a:ext uri="{FF2B5EF4-FFF2-40B4-BE49-F238E27FC236}">
                <a16:creationId xmlns:a16="http://schemas.microsoft.com/office/drawing/2014/main" id="{445616FF-FF75-0263-ED80-5DF6145B24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1966" y="1138702"/>
            <a:ext cx="6571623" cy="1938532"/>
          </a:xfrm>
          <a:prstGeom prst="rect">
            <a:avLst/>
          </a:prstGeom>
        </p:spPr>
      </p:pic>
      <p:sp>
        <p:nvSpPr>
          <p:cNvPr id="8" name="Rectangle 7">
            <a:extLst>
              <a:ext uri="{FF2B5EF4-FFF2-40B4-BE49-F238E27FC236}">
                <a16:creationId xmlns:a16="http://schemas.microsoft.com/office/drawing/2014/main" id="{F30FE49C-B273-6CF3-C3BD-F521F46FD953}"/>
              </a:ext>
              <a:ext uri="{C183D7F6-B498-43B3-948B-1728B52AA6E4}">
                <adec:decorative xmlns:adec="http://schemas.microsoft.com/office/drawing/2017/decorative" val="1"/>
              </a:ext>
            </a:extLst>
          </p:cNvPr>
          <p:cNvSpPr/>
          <p:nvPr/>
        </p:nvSpPr>
        <p:spPr>
          <a:xfrm>
            <a:off x="5736771" y="3755634"/>
            <a:ext cx="6170683" cy="2601623"/>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Map&#10;&#10;Description automatically generated">
            <a:extLst>
              <a:ext uri="{FF2B5EF4-FFF2-40B4-BE49-F238E27FC236}">
                <a16:creationId xmlns:a16="http://schemas.microsoft.com/office/drawing/2014/main" id="{B76BE09B-E072-492C-389A-2A7A7BDAEE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8123" y="3919818"/>
            <a:ext cx="5607978" cy="2266826"/>
          </a:xfrm>
          <a:prstGeom prst="rect">
            <a:avLst/>
          </a:prstGeom>
        </p:spPr>
      </p:pic>
      <p:sp>
        <p:nvSpPr>
          <p:cNvPr id="17" name="TextBox 16">
            <a:extLst>
              <a:ext uri="{FF2B5EF4-FFF2-40B4-BE49-F238E27FC236}">
                <a16:creationId xmlns:a16="http://schemas.microsoft.com/office/drawing/2014/main" id="{652DA8F5-8B61-CB86-1BD7-D265F019E5FD}"/>
              </a:ext>
            </a:extLst>
          </p:cNvPr>
          <p:cNvSpPr txBox="1"/>
          <p:nvPr/>
        </p:nvSpPr>
        <p:spPr>
          <a:xfrm>
            <a:off x="1394818" y="4437149"/>
            <a:ext cx="2524527" cy="1077218"/>
          </a:xfrm>
          <a:prstGeom prst="rect">
            <a:avLst/>
          </a:prstGeom>
          <a:noFill/>
        </p:spPr>
        <p:txBody>
          <a:bodyPr wrap="square" lIns="0" tIns="0" rIns="0" bIns="0" rtlCol="0">
            <a:spAutoFit/>
          </a:bodyPr>
          <a:lstStyle/>
          <a:p>
            <a:pPr algn="ctr"/>
            <a:r>
              <a:rPr lang="en-US" sz="1400" dirty="0"/>
              <a:t>Note that only Michigan and Ohio have Cedar Point, a local coaster park, is more popular than Walt Disney World, which is a theme park.</a:t>
            </a:r>
          </a:p>
        </p:txBody>
      </p:sp>
    </p:spTree>
    <p:extLst>
      <p:ext uri="{BB962C8B-B14F-4D97-AF65-F5344CB8AC3E}">
        <p14:creationId xmlns:p14="http://schemas.microsoft.com/office/powerpoint/2010/main" val="2958622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110" name="TextBox 109"/>
          <p:cNvSpPr txBox="1"/>
          <p:nvPr/>
        </p:nvSpPr>
        <p:spPr>
          <a:xfrm>
            <a:off x="914271" y="365946"/>
            <a:ext cx="5176097" cy="461665"/>
          </a:xfrm>
          <a:prstGeom prst="rect">
            <a:avLst/>
          </a:prstGeom>
          <a:noFill/>
        </p:spPr>
        <p:txBody>
          <a:bodyPr wrap="none" lIns="0" tIns="0" rIns="0" bIns="0" rtlCol="0">
            <a:spAutoFit/>
          </a:bodyPr>
          <a:lstStyle/>
          <a:p>
            <a:pPr algn="ctr">
              <a:tabLst>
                <a:tab pos="347663" algn="l"/>
              </a:tabLst>
            </a:pPr>
            <a:r>
              <a:rPr lang="en-US" sz="3000" b="1" dirty="0">
                <a:solidFill>
                  <a:srgbClr val="30353F"/>
                </a:solidFill>
                <a:latin typeface="+mj-lt"/>
              </a:rPr>
              <a:t>INTERNATIONAL POPULARITY</a:t>
            </a:r>
          </a:p>
        </p:txBody>
      </p:sp>
      <p:sp>
        <p:nvSpPr>
          <p:cNvPr id="155" name="Rectangle 154">
            <a:extLst>
              <a:ext uri="{C183D7F6-B498-43B3-948B-1728B52AA6E4}">
                <adec:decorative xmlns:adec="http://schemas.microsoft.com/office/drawing/2017/decorative" val="1"/>
              </a:ext>
            </a:extLst>
          </p:cNvPr>
          <p:cNvSpPr/>
          <p:nvPr/>
        </p:nvSpPr>
        <p:spPr>
          <a:xfrm>
            <a:off x="1000125" y="923925"/>
            <a:ext cx="4933950" cy="2619375"/>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19">
            <a:extLst>
              <a:ext uri="{FF2B5EF4-FFF2-40B4-BE49-F238E27FC236}">
                <a16:creationId xmlns:a16="http://schemas.microsoft.com/office/drawing/2014/main" id="{189E3C56-F900-44E7-BF74-7509E4A585C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33" name="TextBox 32">
            <a:extLst>
              <a:ext uri="{FF2B5EF4-FFF2-40B4-BE49-F238E27FC236}">
                <a16:creationId xmlns:a16="http://schemas.microsoft.com/office/drawing/2014/main" id="{5C7F3CEE-E6DF-48C0-8B9A-22A03DF4C29B}"/>
              </a:ext>
            </a:extLst>
          </p:cNvPr>
          <p:cNvSpPr txBox="1"/>
          <p:nvPr/>
        </p:nvSpPr>
        <p:spPr>
          <a:xfrm>
            <a:off x="11831652" y="6481179"/>
            <a:ext cx="280846" cy="307777"/>
          </a:xfrm>
          <a:prstGeom prst="rect">
            <a:avLst/>
          </a:prstGeom>
          <a:noFill/>
        </p:spPr>
        <p:txBody>
          <a:bodyPr wrap="none" rtlCol="0">
            <a:spAutoFit/>
          </a:bodyPr>
          <a:lstStyle/>
          <a:p>
            <a:r>
              <a:rPr lang="en-US" sz="1400" b="1" dirty="0">
                <a:solidFill>
                  <a:schemeClr val="bg1"/>
                </a:solidFill>
              </a:rPr>
              <a:t>5</a:t>
            </a:r>
          </a:p>
        </p:txBody>
      </p:sp>
      <p:sp>
        <p:nvSpPr>
          <p:cNvPr id="2" name="Title 1" hidden="1">
            <a:extLst>
              <a:ext uri="{FF2B5EF4-FFF2-40B4-BE49-F238E27FC236}">
                <a16:creationId xmlns:a16="http://schemas.microsoft.com/office/drawing/2014/main" id="{57154957-68AB-414D-8F5B-A49D3A2612B1}"/>
              </a:ext>
            </a:extLst>
          </p:cNvPr>
          <p:cNvSpPr>
            <a:spLocks noGrp="1"/>
          </p:cNvSpPr>
          <p:nvPr>
            <p:ph type="title"/>
          </p:nvPr>
        </p:nvSpPr>
        <p:spPr/>
        <p:txBody>
          <a:bodyPr/>
          <a:lstStyle/>
          <a:p>
            <a:r>
              <a:rPr lang="en-US" dirty="0"/>
              <a:t>Slide 2</a:t>
            </a:r>
          </a:p>
        </p:txBody>
      </p:sp>
      <p:sp>
        <p:nvSpPr>
          <p:cNvPr id="13" name="Rectangle 12">
            <a:extLst>
              <a:ext uri="{FF2B5EF4-FFF2-40B4-BE49-F238E27FC236}">
                <a16:creationId xmlns:a16="http://schemas.microsoft.com/office/drawing/2014/main" id="{4EDDCBA4-2E61-3DC9-0037-7AB87C5DC00B}"/>
              </a:ext>
              <a:ext uri="{C183D7F6-B498-43B3-948B-1728B52AA6E4}">
                <adec:decorative xmlns:adec="http://schemas.microsoft.com/office/drawing/2017/decorative" val="1"/>
              </a:ext>
            </a:extLst>
          </p:cNvPr>
          <p:cNvSpPr/>
          <p:nvPr/>
        </p:nvSpPr>
        <p:spPr>
          <a:xfrm>
            <a:off x="7161706" y="1382738"/>
            <a:ext cx="4488138" cy="4216475"/>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6A43EE73-BE1E-6D06-6685-3FF96A89AA15}"/>
              </a:ext>
            </a:extLst>
          </p:cNvPr>
          <p:cNvSpPr txBox="1"/>
          <p:nvPr/>
        </p:nvSpPr>
        <p:spPr>
          <a:xfrm>
            <a:off x="7600950" y="2207239"/>
            <a:ext cx="3810000" cy="3046988"/>
          </a:xfrm>
          <a:prstGeom prst="rect">
            <a:avLst/>
          </a:prstGeom>
          <a:noFill/>
        </p:spPr>
        <p:txBody>
          <a:bodyPr wrap="square" lIns="0" tIns="0" rIns="0" bIns="0" rtlCol="0">
            <a:spAutoFit/>
          </a:bodyPr>
          <a:lstStyle/>
          <a:p>
            <a:pPr algn="ctr"/>
            <a:r>
              <a:rPr lang="en-US" dirty="0"/>
              <a:t>Google Trends reveals the same tendencies in international interest. In Brazil, Universal Orlando is highly competitive with Disney, while the other parks are significantly less searched. </a:t>
            </a:r>
          </a:p>
          <a:p>
            <a:pPr algn="ctr"/>
            <a:r>
              <a:rPr lang="en-US" dirty="0"/>
              <a:t>Also, in the “Related Queries” section for Universal, the 6</a:t>
            </a:r>
            <a:r>
              <a:rPr lang="en-US" baseline="30000" dirty="0"/>
              <a:t>th</a:t>
            </a:r>
            <a:r>
              <a:rPr lang="en-US" dirty="0"/>
              <a:t> ranking is </a:t>
            </a:r>
          </a:p>
          <a:p>
            <a:pPr algn="ctr"/>
            <a:r>
              <a:rPr lang="en-US" dirty="0"/>
              <a:t>“Harry Potter.” Moreover, the popularity of the Wizarding World absolutely crushes three other Florida landmark rides in the UK.</a:t>
            </a:r>
          </a:p>
        </p:txBody>
      </p:sp>
      <p:pic>
        <p:nvPicPr>
          <p:cNvPr id="4" name="Picture 3">
            <a:extLst>
              <a:ext uri="{FF2B5EF4-FFF2-40B4-BE49-F238E27FC236}">
                <a16:creationId xmlns:a16="http://schemas.microsoft.com/office/drawing/2014/main" id="{1E6F0AFB-D25F-6792-1EF5-93520736DBFB}"/>
              </a:ext>
            </a:extLst>
          </p:cNvPr>
          <p:cNvPicPr>
            <a:picLocks noChangeAspect="1"/>
          </p:cNvPicPr>
          <p:nvPr/>
        </p:nvPicPr>
        <p:blipFill>
          <a:blip r:embed="rId2"/>
          <a:stretch>
            <a:fillRect/>
          </a:stretch>
        </p:blipFill>
        <p:spPr>
          <a:xfrm>
            <a:off x="1137578" y="1037704"/>
            <a:ext cx="4653622" cy="2405647"/>
          </a:xfrm>
          <a:prstGeom prst="rect">
            <a:avLst/>
          </a:prstGeom>
        </p:spPr>
      </p:pic>
      <p:sp>
        <p:nvSpPr>
          <p:cNvPr id="10" name="Oval 9">
            <a:extLst>
              <a:ext uri="{FF2B5EF4-FFF2-40B4-BE49-F238E27FC236}">
                <a16:creationId xmlns:a16="http://schemas.microsoft.com/office/drawing/2014/main" id="{177186D4-90F2-4ACB-7F86-40B7F3AC9E7D}"/>
              </a:ext>
              <a:ext uri="{C183D7F6-B498-43B3-948B-1728B52AA6E4}">
                <adec:decorative xmlns:adec="http://schemas.microsoft.com/office/drawing/2017/decorative" val="1"/>
              </a:ext>
            </a:extLst>
          </p:cNvPr>
          <p:cNvSpPr/>
          <p:nvPr/>
        </p:nvSpPr>
        <p:spPr>
          <a:xfrm>
            <a:off x="8595146" y="690106"/>
            <a:ext cx="1352782" cy="1301647"/>
          </a:xfrm>
          <a:prstGeom prst="ellipse">
            <a:avLst/>
          </a:prstGeom>
          <a:solidFill>
            <a:srgbClr val="30353F"/>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49C2EC3F-1235-3071-90A6-80396FC4DE88}"/>
              </a:ext>
              <a:ext uri="{C183D7F6-B498-43B3-948B-1728B52AA6E4}">
                <adec:decorative xmlns:adec="http://schemas.microsoft.com/office/drawing/2017/decorative" val="1"/>
              </a:ext>
            </a:extLst>
          </p:cNvPr>
          <p:cNvSpPr/>
          <p:nvPr/>
        </p:nvSpPr>
        <p:spPr>
          <a:xfrm>
            <a:off x="542156" y="3657079"/>
            <a:ext cx="5757762" cy="2824100"/>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Picture 23" descr="Chart&#10;&#10;Description automatically generated">
            <a:extLst>
              <a:ext uri="{FF2B5EF4-FFF2-40B4-BE49-F238E27FC236}">
                <a16:creationId xmlns:a16="http://schemas.microsoft.com/office/drawing/2014/main" id="{535477B3-F7AA-CD50-33A6-D27EFD32B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989" y="3799025"/>
            <a:ext cx="5524500" cy="2533650"/>
          </a:xfrm>
          <a:prstGeom prst="rect">
            <a:avLst/>
          </a:prstGeom>
        </p:spPr>
      </p:pic>
      <p:pic>
        <p:nvPicPr>
          <p:cNvPr id="3" name="Picture 2">
            <a:extLst>
              <a:ext uri="{FF2B5EF4-FFF2-40B4-BE49-F238E27FC236}">
                <a16:creationId xmlns:a16="http://schemas.microsoft.com/office/drawing/2014/main" id="{40D62C61-0487-AA16-FCD8-212EC69D83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05984" y="775376"/>
            <a:ext cx="1131105" cy="1131105"/>
          </a:xfrm>
          <a:prstGeom prst="rect">
            <a:avLst/>
          </a:prstGeom>
        </p:spPr>
      </p:pic>
    </p:spTree>
    <p:extLst>
      <p:ext uri="{BB962C8B-B14F-4D97-AF65-F5344CB8AC3E}">
        <p14:creationId xmlns:p14="http://schemas.microsoft.com/office/powerpoint/2010/main" val="941789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110" name="TextBox 109"/>
          <p:cNvSpPr txBox="1"/>
          <p:nvPr/>
        </p:nvSpPr>
        <p:spPr>
          <a:xfrm>
            <a:off x="3059110" y="185659"/>
            <a:ext cx="6073779" cy="461665"/>
          </a:xfrm>
          <a:prstGeom prst="rect">
            <a:avLst/>
          </a:prstGeom>
          <a:noFill/>
        </p:spPr>
        <p:txBody>
          <a:bodyPr wrap="none" lIns="0" tIns="0" rIns="0" bIns="0" rtlCol="0">
            <a:spAutoFit/>
          </a:bodyPr>
          <a:lstStyle/>
          <a:p>
            <a:pPr algn="ctr">
              <a:tabLst>
                <a:tab pos="347663" algn="l"/>
              </a:tabLst>
            </a:pPr>
            <a:r>
              <a:rPr lang="en-US" sz="3000" b="1" dirty="0">
                <a:solidFill>
                  <a:srgbClr val="30353F"/>
                </a:solidFill>
                <a:latin typeface="+mj-lt"/>
              </a:rPr>
              <a:t>PENNYWISE OR POUND FOOLISH?</a:t>
            </a:r>
          </a:p>
        </p:txBody>
      </p:sp>
      <p:sp>
        <p:nvSpPr>
          <p:cNvPr id="155" name="Rectangle 154">
            <a:extLst>
              <a:ext uri="{C183D7F6-B498-43B3-948B-1728B52AA6E4}">
                <adec:decorative xmlns:adec="http://schemas.microsoft.com/office/drawing/2017/decorative" val="1"/>
              </a:ext>
            </a:extLst>
          </p:cNvPr>
          <p:cNvSpPr/>
          <p:nvPr/>
        </p:nvSpPr>
        <p:spPr>
          <a:xfrm>
            <a:off x="5580880" y="837679"/>
            <a:ext cx="5757761" cy="2816285"/>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19">
            <a:extLst>
              <a:ext uri="{FF2B5EF4-FFF2-40B4-BE49-F238E27FC236}">
                <a16:creationId xmlns:a16="http://schemas.microsoft.com/office/drawing/2014/main" id="{189E3C56-F900-44E7-BF74-7509E4A585C5}"/>
              </a:ex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33" name="TextBox 32">
            <a:extLst>
              <a:ext uri="{FF2B5EF4-FFF2-40B4-BE49-F238E27FC236}">
                <a16:creationId xmlns:a16="http://schemas.microsoft.com/office/drawing/2014/main" id="{5C7F3CEE-E6DF-48C0-8B9A-22A03DF4C29B}"/>
              </a:ext>
            </a:extLst>
          </p:cNvPr>
          <p:cNvSpPr txBox="1"/>
          <p:nvPr/>
        </p:nvSpPr>
        <p:spPr>
          <a:xfrm>
            <a:off x="11831652" y="6481179"/>
            <a:ext cx="280846" cy="307777"/>
          </a:xfrm>
          <a:prstGeom prst="rect">
            <a:avLst/>
          </a:prstGeom>
          <a:noFill/>
        </p:spPr>
        <p:txBody>
          <a:bodyPr wrap="none" rtlCol="0">
            <a:spAutoFit/>
          </a:bodyPr>
          <a:lstStyle/>
          <a:p>
            <a:r>
              <a:rPr lang="en-US" sz="1400" b="1" dirty="0">
                <a:solidFill>
                  <a:schemeClr val="bg1"/>
                </a:solidFill>
              </a:rPr>
              <a:t>5</a:t>
            </a:r>
          </a:p>
        </p:txBody>
      </p:sp>
      <p:sp>
        <p:nvSpPr>
          <p:cNvPr id="2" name="Title 1" hidden="1">
            <a:extLst>
              <a:ext uri="{FF2B5EF4-FFF2-40B4-BE49-F238E27FC236}">
                <a16:creationId xmlns:a16="http://schemas.microsoft.com/office/drawing/2014/main" id="{57154957-68AB-414D-8F5B-A49D3A2612B1}"/>
              </a:ext>
            </a:extLst>
          </p:cNvPr>
          <p:cNvSpPr>
            <a:spLocks noGrp="1"/>
          </p:cNvSpPr>
          <p:nvPr>
            <p:ph type="title"/>
          </p:nvPr>
        </p:nvSpPr>
        <p:spPr/>
        <p:txBody>
          <a:bodyPr/>
          <a:lstStyle/>
          <a:p>
            <a:r>
              <a:rPr lang="en-US" dirty="0"/>
              <a:t>Slide 2</a:t>
            </a:r>
          </a:p>
        </p:txBody>
      </p:sp>
      <p:sp>
        <p:nvSpPr>
          <p:cNvPr id="13" name="Rectangle 12">
            <a:extLst>
              <a:ext uri="{FF2B5EF4-FFF2-40B4-BE49-F238E27FC236}">
                <a16:creationId xmlns:a16="http://schemas.microsoft.com/office/drawing/2014/main" id="{4EDDCBA4-2E61-3DC9-0037-7AB87C5DC00B}"/>
              </a:ext>
              <a:ext uri="{C183D7F6-B498-43B3-948B-1728B52AA6E4}">
                <adec:decorative xmlns:adec="http://schemas.microsoft.com/office/drawing/2017/decorative" val="1"/>
              </a:ext>
            </a:extLst>
          </p:cNvPr>
          <p:cNvSpPr/>
          <p:nvPr/>
        </p:nvSpPr>
        <p:spPr>
          <a:xfrm>
            <a:off x="640373" y="1320762"/>
            <a:ext cx="3720612" cy="4216475"/>
          </a:xfrm>
          <a:prstGeom prst="rect">
            <a:avLst/>
          </a:prstGeom>
          <a:gradFill flip="none" rotWithShape="1">
            <a:gsLst>
              <a:gs pos="100000">
                <a:srgbClr val="98A3AD">
                  <a:alpha val="0"/>
                </a:srgbClr>
              </a:gs>
              <a:gs pos="0">
                <a:srgbClr val="98A3AD"/>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Oval 9">
            <a:extLst>
              <a:ext uri="{FF2B5EF4-FFF2-40B4-BE49-F238E27FC236}">
                <a16:creationId xmlns:a16="http://schemas.microsoft.com/office/drawing/2014/main" id="{177186D4-90F2-4ACB-7F86-40B7F3AC9E7D}"/>
              </a:ext>
              <a:ext uri="{C183D7F6-B498-43B3-948B-1728B52AA6E4}">
                <adec:decorative xmlns:adec="http://schemas.microsoft.com/office/drawing/2017/decorative" val="1"/>
              </a:ext>
            </a:extLst>
          </p:cNvPr>
          <p:cNvSpPr/>
          <p:nvPr/>
        </p:nvSpPr>
        <p:spPr>
          <a:xfrm>
            <a:off x="1824288" y="545375"/>
            <a:ext cx="1352782" cy="1301647"/>
          </a:xfrm>
          <a:prstGeom prst="ellipse">
            <a:avLst/>
          </a:prstGeom>
          <a:solidFill>
            <a:schemeClr val="tx1">
              <a:lumMod val="50000"/>
              <a:lumOff val="50000"/>
            </a:schemeClr>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49C2EC3F-1235-3071-90A6-80396FC4DE88}"/>
              </a:ext>
              <a:ext uri="{C183D7F6-B498-43B3-948B-1728B52AA6E4}">
                <adec:decorative xmlns:adec="http://schemas.microsoft.com/office/drawing/2017/decorative" val="1"/>
              </a:ext>
            </a:extLst>
          </p:cNvPr>
          <p:cNvSpPr/>
          <p:nvPr/>
        </p:nvSpPr>
        <p:spPr>
          <a:xfrm>
            <a:off x="5580881" y="3752329"/>
            <a:ext cx="5757762" cy="2486546"/>
          </a:xfrm>
          <a:prstGeom prst="rect">
            <a:avLst/>
          </a:prstGeom>
          <a:solidFill>
            <a:srgbClr val="85E0E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A9DB5F1B-7C9B-3970-53E6-3E8C73B47A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8796" y="3891568"/>
            <a:ext cx="5554528" cy="2204953"/>
          </a:xfrm>
          <a:prstGeom prst="rect">
            <a:avLst/>
          </a:prstGeom>
        </p:spPr>
      </p:pic>
      <p:pic>
        <p:nvPicPr>
          <p:cNvPr id="7" name="Picture 6">
            <a:extLst>
              <a:ext uri="{FF2B5EF4-FFF2-40B4-BE49-F238E27FC236}">
                <a16:creationId xmlns:a16="http://schemas.microsoft.com/office/drawing/2014/main" id="{C96508F7-2E57-D84E-6878-ACEB1485BA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8796" y="930506"/>
            <a:ext cx="5554528" cy="2586262"/>
          </a:xfrm>
          <a:prstGeom prst="rect">
            <a:avLst/>
          </a:prstGeom>
        </p:spPr>
      </p:pic>
      <p:pic>
        <p:nvPicPr>
          <p:cNvPr id="1026" name="Picture 2" descr="Download The Rolling Stones Five - Mick Jagger Transparent PNG Image with No  Background - PNGkey.com">
            <a:extLst>
              <a:ext uri="{FF2B5EF4-FFF2-40B4-BE49-F238E27FC236}">
                <a16:creationId xmlns:a16="http://schemas.microsoft.com/office/drawing/2014/main" id="{B989C7BF-9859-3EE7-7F3B-141CD6F3E41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557701" y="4634921"/>
            <a:ext cx="1885954" cy="121832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Rolling Stones Png Logo - Free Transparent PNG Logos">
            <a:extLst>
              <a:ext uri="{FF2B5EF4-FFF2-40B4-BE49-F238E27FC236}">
                <a16:creationId xmlns:a16="http://schemas.microsoft.com/office/drawing/2014/main" id="{900C355E-1235-0E60-EC0B-0E5D65D8EF3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29709" y="785151"/>
            <a:ext cx="741940" cy="82209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CA797C7-8203-97DB-E019-C8A33D209147}"/>
              </a:ext>
            </a:extLst>
          </p:cNvPr>
          <p:cNvSpPr txBox="1"/>
          <p:nvPr/>
        </p:nvSpPr>
        <p:spPr>
          <a:xfrm>
            <a:off x="1031156" y="2195073"/>
            <a:ext cx="2939045" cy="2308324"/>
          </a:xfrm>
          <a:prstGeom prst="rect">
            <a:avLst/>
          </a:prstGeom>
          <a:noFill/>
        </p:spPr>
        <p:txBody>
          <a:bodyPr wrap="square" rtlCol="0">
            <a:spAutoFit/>
          </a:bodyPr>
          <a:lstStyle/>
          <a:p>
            <a:pPr algn="ctr"/>
            <a:r>
              <a:rPr lang="en-US" dirty="0">
                <a:solidFill>
                  <a:schemeClr val="tx1"/>
                </a:solidFill>
              </a:rPr>
              <a:t>Disney opted to save a purported $10M in the 1990s by choosing Aerosmith over the Rolling Stones for their Rock ‘n’ Rollercoaster theme, despite the difference in popularity. </a:t>
            </a:r>
          </a:p>
          <a:p>
            <a:pPr algn="ctr"/>
            <a:endParaRPr lang="en-US" dirty="0"/>
          </a:p>
        </p:txBody>
      </p:sp>
      <p:pic>
        <p:nvPicPr>
          <p:cNvPr id="6" name="Picture 5">
            <a:extLst>
              <a:ext uri="{FF2B5EF4-FFF2-40B4-BE49-F238E27FC236}">
                <a16:creationId xmlns:a16="http://schemas.microsoft.com/office/drawing/2014/main" id="{B53CAB54-621F-B1FA-7E74-5B584191940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64687" y="4154365"/>
            <a:ext cx="1768425" cy="1847022"/>
          </a:xfrm>
          <a:prstGeom prst="rect">
            <a:avLst/>
          </a:prstGeom>
        </p:spPr>
      </p:pic>
    </p:spTree>
    <p:extLst>
      <p:ext uri="{BB962C8B-B14F-4D97-AF65-F5344CB8AC3E}">
        <p14:creationId xmlns:p14="http://schemas.microsoft.com/office/powerpoint/2010/main" val="3955809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38" name="Freeform 37">
            <a:extLs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42" name="TextBox 41"/>
          <p:cNvSpPr txBox="1"/>
          <p:nvPr/>
        </p:nvSpPr>
        <p:spPr>
          <a:xfrm>
            <a:off x="11907454" y="6481180"/>
            <a:ext cx="277640" cy="307777"/>
          </a:xfrm>
          <a:prstGeom prst="rect">
            <a:avLst/>
          </a:prstGeom>
          <a:noFill/>
        </p:spPr>
        <p:txBody>
          <a:bodyPr wrap="none" rtlCol="0">
            <a:spAutoFit/>
          </a:bodyPr>
          <a:lstStyle/>
          <a:p>
            <a:r>
              <a:rPr lang="en-US" sz="1400" b="1" dirty="0">
                <a:solidFill>
                  <a:schemeClr val="bg1"/>
                </a:solidFill>
              </a:rPr>
              <a:t>6</a:t>
            </a:r>
          </a:p>
        </p:txBody>
      </p:sp>
      <p:sp>
        <p:nvSpPr>
          <p:cNvPr id="98" name="Rectangle 97">
            <a:extLst>
              <a:ext uri="{C183D7F6-B498-43B3-948B-1728B52AA6E4}">
                <adec:decorative xmlns:adec="http://schemas.microsoft.com/office/drawing/2017/decorative" val="1"/>
              </a:ext>
            </a:extLst>
          </p:cNvPr>
          <p:cNvSpPr/>
          <p:nvPr/>
        </p:nvSpPr>
        <p:spPr>
          <a:xfrm rot="5400000">
            <a:off x="3893613" y="2029102"/>
            <a:ext cx="3865361" cy="3406902"/>
          </a:xfrm>
          <a:prstGeom prst="rect">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Oval 84">
            <a:extLst>
              <a:ext uri="{C183D7F6-B498-43B3-948B-1728B52AA6E4}">
                <adec:decorative xmlns:adec="http://schemas.microsoft.com/office/drawing/2017/decorative" val="1"/>
              </a:ext>
            </a:extLst>
          </p:cNvPr>
          <p:cNvSpPr/>
          <p:nvPr/>
        </p:nvSpPr>
        <p:spPr>
          <a:xfrm>
            <a:off x="5327625" y="1290842"/>
            <a:ext cx="1011618" cy="1018061"/>
          </a:xfrm>
          <a:prstGeom prst="ellipse">
            <a:avLst/>
          </a:prstGeom>
          <a:solidFill>
            <a:srgbClr val="BABABA"/>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FFAEF1C8-817C-4EBC-A4FB-3ED2DB7FCBF8}"/>
              </a:ext>
            </a:extLst>
          </p:cNvPr>
          <p:cNvSpPr txBox="1"/>
          <p:nvPr/>
        </p:nvSpPr>
        <p:spPr>
          <a:xfrm>
            <a:off x="3316401" y="165381"/>
            <a:ext cx="5559214" cy="492443"/>
          </a:xfrm>
          <a:prstGeom prst="rect">
            <a:avLst/>
          </a:prstGeom>
          <a:noFill/>
        </p:spPr>
        <p:txBody>
          <a:bodyPr wrap="none" lIns="0" tIns="0" rIns="0" bIns="0" rtlCol="0">
            <a:spAutoFit/>
          </a:bodyPr>
          <a:lstStyle/>
          <a:p>
            <a:pPr algn="ctr">
              <a:tabLst>
                <a:tab pos="347663" algn="l"/>
              </a:tabLst>
            </a:pPr>
            <a:r>
              <a:rPr lang="en-US" sz="3200" b="1" dirty="0">
                <a:solidFill>
                  <a:srgbClr val="30353F"/>
                </a:solidFill>
                <a:latin typeface="+mj-lt"/>
              </a:rPr>
              <a:t>BACKUP: TRADITIONAL DATA</a:t>
            </a:r>
          </a:p>
        </p:txBody>
      </p:sp>
      <p:sp>
        <p:nvSpPr>
          <p:cNvPr id="2" name="Title 1" hidden="1">
            <a:extLst>
              <a:ext uri="{FF2B5EF4-FFF2-40B4-BE49-F238E27FC236}">
                <a16:creationId xmlns:a16="http://schemas.microsoft.com/office/drawing/2014/main" id="{8BD7D413-936A-4A2D-83E0-6714C8DB077C}"/>
              </a:ext>
            </a:extLst>
          </p:cNvPr>
          <p:cNvSpPr>
            <a:spLocks noGrp="1"/>
          </p:cNvSpPr>
          <p:nvPr>
            <p:ph type="title"/>
          </p:nvPr>
        </p:nvSpPr>
        <p:spPr/>
        <p:txBody>
          <a:bodyPr/>
          <a:lstStyle/>
          <a:p>
            <a:r>
              <a:rPr lang="en-US" dirty="0"/>
              <a:t>Slide 4</a:t>
            </a:r>
          </a:p>
        </p:txBody>
      </p:sp>
      <p:sp>
        <p:nvSpPr>
          <p:cNvPr id="12" name="Rectangle 11">
            <a:extLst>
              <a:ext uri="{FF2B5EF4-FFF2-40B4-BE49-F238E27FC236}">
                <a16:creationId xmlns:a16="http://schemas.microsoft.com/office/drawing/2014/main" id="{81A24EB7-6A1E-397B-83C4-646875E8AC81}"/>
              </a:ext>
              <a:ext uri="{C183D7F6-B498-43B3-948B-1728B52AA6E4}">
                <adec:decorative xmlns:adec="http://schemas.microsoft.com/office/drawing/2017/decorative" val="1"/>
              </a:ext>
            </a:extLst>
          </p:cNvPr>
          <p:cNvSpPr/>
          <p:nvPr/>
        </p:nvSpPr>
        <p:spPr>
          <a:xfrm>
            <a:off x="8074595" y="2278623"/>
            <a:ext cx="3655723" cy="2747411"/>
          </a:xfrm>
          <a:prstGeom prst="rect">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pic>
        <p:nvPicPr>
          <p:cNvPr id="13" name="Picture 12" descr="Chart, bar chart&#10;&#10;Description automatically generated">
            <a:extLst>
              <a:ext uri="{FF2B5EF4-FFF2-40B4-BE49-F238E27FC236}">
                <a16:creationId xmlns:a16="http://schemas.microsoft.com/office/drawing/2014/main" id="{20406D94-E4F0-9C3B-0F1B-D6B7F516DDB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18153" y="2386438"/>
            <a:ext cx="3406903" cy="2528561"/>
          </a:xfrm>
          <a:prstGeom prst="rect">
            <a:avLst/>
          </a:prstGeom>
        </p:spPr>
      </p:pic>
      <p:sp>
        <p:nvSpPr>
          <p:cNvPr id="15" name="TextBox 14">
            <a:extLst>
              <a:ext uri="{FF2B5EF4-FFF2-40B4-BE49-F238E27FC236}">
                <a16:creationId xmlns:a16="http://schemas.microsoft.com/office/drawing/2014/main" id="{E41255D1-9B55-D547-F59A-9C3DAE1B6F2A}"/>
              </a:ext>
            </a:extLst>
          </p:cNvPr>
          <p:cNvSpPr txBox="1"/>
          <p:nvPr/>
        </p:nvSpPr>
        <p:spPr>
          <a:xfrm>
            <a:off x="4476121" y="2440711"/>
            <a:ext cx="2714626" cy="2585323"/>
          </a:xfrm>
          <a:prstGeom prst="rect">
            <a:avLst/>
          </a:prstGeom>
          <a:noFill/>
        </p:spPr>
        <p:txBody>
          <a:bodyPr wrap="square" lIns="0" tIns="0" rIns="0" bIns="0" rtlCol="0">
            <a:spAutoFit/>
          </a:bodyPr>
          <a:lstStyle/>
          <a:p>
            <a:pPr algn="ctr"/>
            <a:r>
              <a:rPr lang="en-US" sz="1400" dirty="0"/>
              <a:t>Ride rankings from </a:t>
            </a:r>
            <a:r>
              <a:rPr lang="en-US" sz="1400" dirty="0" err="1"/>
              <a:t>CaptainCoaster</a:t>
            </a:r>
            <a:r>
              <a:rPr lang="en-US" sz="1400" dirty="0"/>
              <a:t> show that even modest coasters that are highly themed can successfully compete with wild thrill rides.</a:t>
            </a:r>
          </a:p>
          <a:p>
            <a:pPr algn="ctr"/>
            <a:endParaRPr lang="en-US" sz="1400" dirty="0"/>
          </a:p>
          <a:p>
            <a:pPr algn="ctr"/>
            <a:r>
              <a:rPr lang="en-US" sz="1400" dirty="0"/>
              <a:t>Restaurant reviews from TripAdvisor and Yelp corroborate the Google Trends data. There are more restaurant reviews in themed lands than in the vicinity of non-themed attractions.</a:t>
            </a:r>
          </a:p>
        </p:txBody>
      </p:sp>
      <p:pic>
        <p:nvPicPr>
          <p:cNvPr id="3" name="Picture 2">
            <a:extLst>
              <a:ext uri="{FF2B5EF4-FFF2-40B4-BE49-F238E27FC236}">
                <a16:creationId xmlns:a16="http://schemas.microsoft.com/office/drawing/2014/main" id="{67307A62-3E01-2D4E-38A3-70DD740F06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67793" y="4879072"/>
            <a:ext cx="500821" cy="20248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ripadvisor Logo, symbol, meaning, history, PNG">
            <a:extLst>
              <a:ext uri="{FF2B5EF4-FFF2-40B4-BE49-F238E27FC236}">
                <a16:creationId xmlns:a16="http://schemas.microsoft.com/office/drawing/2014/main" id="{5048B605-B2F3-E855-46A8-B270A08A9A9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51341" y="4746958"/>
            <a:ext cx="847133" cy="476512"/>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1085DAE8-AEAD-E981-FAF9-F68A41D65FEE}"/>
              </a:ext>
              <a:ext uri="{C183D7F6-B498-43B3-948B-1728B52AA6E4}">
                <adec:decorative xmlns:adec="http://schemas.microsoft.com/office/drawing/2017/decorative" val="1"/>
              </a:ext>
            </a:extLst>
          </p:cNvPr>
          <p:cNvSpPr/>
          <p:nvPr/>
        </p:nvSpPr>
        <p:spPr>
          <a:xfrm>
            <a:off x="5327625" y="5156204"/>
            <a:ext cx="1011618" cy="1018061"/>
          </a:xfrm>
          <a:prstGeom prst="ellipse">
            <a:avLst/>
          </a:prstGeom>
          <a:solidFill>
            <a:srgbClr val="BABABA"/>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2">
            <a:extLst>
              <a:ext uri="{FF2B5EF4-FFF2-40B4-BE49-F238E27FC236}">
                <a16:creationId xmlns:a16="http://schemas.microsoft.com/office/drawing/2014/main" id="{7A40A328-C4F9-601F-8520-08D9ABDFD98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79789" y="5211589"/>
            <a:ext cx="907290" cy="90729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unny Gifs : roller coaster GIF - VSGIF.com">
            <a:extLst>
              <a:ext uri="{FF2B5EF4-FFF2-40B4-BE49-F238E27FC236}">
                <a16:creationId xmlns:a16="http://schemas.microsoft.com/office/drawing/2014/main" id="{E58D9627-1295-7C7B-98D6-2FF163008F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55378" y="1145872"/>
            <a:ext cx="1156112" cy="1156112"/>
          </a:xfrm>
          <a:prstGeom prst="rect">
            <a:avLst/>
          </a:prstGeom>
          <a:noFill/>
          <a:extLst>
            <a:ext uri="{909E8E84-426E-40DD-AFC4-6F175D3DCCD1}">
              <a14:hiddenFill xmlns:a14="http://schemas.microsoft.com/office/drawing/2010/main">
                <a:solidFill>
                  <a:srgbClr val="FFFFFF"/>
                </a:solidFill>
              </a14:hiddenFill>
            </a:ext>
          </a:extLst>
        </p:spPr>
      </p:pic>
      <p:sp>
        <p:nvSpPr>
          <p:cNvPr id="27" name="Freeform 5">
            <a:extLst>
              <a:ext uri="{FF2B5EF4-FFF2-40B4-BE49-F238E27FC236}">
                <a16:creationId xmlns:a16="http://schemas.microsoft.com/office/drawing/2014/main" id="{5BD6CB93-6DF5-523D-A407-68769C34E9B6}"/>
              </a:ext>
            </a:extLst>
          </p:cNvPr>
          <p:cNvSpPr>
            <a:spLocks noEditPoints="1"/>
          </p:cNvSpPr>
          <p:nvPr/>
        </p:nvSpPr>
        <p:spPr bwMode="auto">
          <a:xfrm>
            <a:off x="7272030" y="4038959"/>
            <a:ext cx="854428" cy="380999"/>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pic>
        <p:nvPicPr>
          <p:cNvPr id="29" name="Picture 28">
            <a:extLst>
              <a:ext uri="{FF2B5EF4-FFF2-40B4-BE49-F238E27FC236}">
                <a16:creationId xmlns:a16="http://schemas.microsoft.com/office/drawing/2014/main" id="{5B4E8400-3786-7CBB-BA1E-24802D6B792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8223" y="4539768"/>
            <a:ext cx="3141600" cy="1579111"/>
          </a:xfrm>
          <a:prstGeom prst="rect">
            <a:avLst/>
          </a:prstGeom>
        </p:spPr>
      </p:pic>
      <p:pic>
        <p:nvPicPr>
          <p:cNvPr id="36" name="Picture 35">
            <a:extLst>
              <a:ext uri="{FF2B5EF4-FFF2-40B4-BE49-F238E27FC236}">
                <a16:creationId xmlns:a16="http://schemas.microsoft.com/office/drawing/2014/main" id="{5A5A75F3-9ED1-E485-8652-CE823EAD8B54}"/>
              </a:ext>
            </a:extLst>
          </p:cNvPr>
          <p:cNvPicPr>
            <a:picLocks noChangeAspect="1"/>
          </p:cNvPicPr>
          <p:nvPr/>
        </p:nvPicPr>
        <p:blipFill>
          <a:blip r:embed="rId8"/>
          <a:stretch>
            <a:fillRect/>
          </a:stretch>
        </p:blipFill>
        <p:spPr>
          <a:xfrm>
            <a:off x="265484" y="1403988"/>
            <a:ext cx="3584933" cy="2837471"/>
          </a:xfrm>
          <a:prstGeom prst="rect">
            <a:avLst/>
          </a:prstGeom>
        </p:spPr>
      </p:pic>
      <p:sp>
        <p:nvSpPr>
          <p:cNvPr id="37" name="Freeform 5">
            <a:extLst>
              <a:ext uri="{FF2B5EF4-FFF2-40B4-BE49-F238E27FC236}">
                <a16:creationId xmlns:a16="http://schemas.microsoft.com/office/drawing/2014/main" id="{CBC4CFF9-12A0-7410-2E06-0E703BEC53AF}"/>
              </a:ext>
            </a:extLst>
          </p:cNvPr>
          <p:cNvSpPr>
            <a:spLocks noEditPoints="1"/>
          </p:cNvSpPr>
          <p:nvPr/>
        </p:nvSpPr>
        <p:spPr bwMode="auto">
          <a:xfrm>
            <a:off x="3669823" y="2453057"/>
            <a:ext cx="642803" cy="329708"/>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chemeClr val="tx1">
              <a:lumMod val="50000"/>
              <a:lumOff val="50000"/>
            </a:schemeClr>
          </a:solidFill>
          <a:ln>
            <a:noFill/>
          </a:ln>
        </p:spPr>
        <p:txBody>
          <a:bodyPr vert="horz" wrap="square" lIns="91440" tIns="45720" rIns="91440" bIns="45720" numCol="1" anchor="t" anchorCtr="0" compatLnSpc="1">
            <a:prstTxWarp prst="textNoShape">
              <a:avLst/>
            </a:prstTxWarp>
          </a:bodyPr>
          <a:lstStyle/>
          <a:p>
            <a:endParaRPr lang="en-US" dirty="0"/>
          </a:p>
        </p:txBody>
      </p:sp>
      <p:cxnSp>
        <p:nvCxnSpPr>
          <p:cNvPr id="41" name="Elbow Connector 3">
            <a:extLst>
              <a:ext uri="{FF2B5EF4-FFF2-40B4-BE49-F238E27FC236}">
                <a16:creationId xmlns:a16="http://schemas.microsoft.com/office/drawing/2014/main" id="{6135C4BE-D523-E9A1-915D-31CAC803A018}"/>
              </a:ext>
              <a:ext uri="{C183D7F6-B498-43B3-948B-1728B52AA6E4}">
                <adec:decorative xmlns:adec="http://schemas.microsoft.com/office/drawing/2017/decorative" val="1"/>
              </a:ext>
            </a:extLst>
          </p:cNvPr>
          <p:cNvCxnSpPr>
            <a:cxnSpLocks/>
          </p:cNvCxnSpPr>
          <p:nvPr/>
        </p:nvCxnSpPr>
        <p:spPr>
          <a:xfrm rot="16200000" flipV="1">
            <a:off x="1572535" y="4230747"/>
            <a:ext cx="310309" cy="307732"/>
          </a:xfrm>
          <a:prstGeom prst="bentConnector3">
            <a:avLst>
              <a:gd name="adj1" fmla="val 50000"/>
            </a:avLst>
          </a:prstGeom>
          <a:ln>
            <a:solidFill>
              <a:srgbClr val="303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3348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Rectangle 103">
            <a:extLst>
              <a:ext uri="{C183D7F6-B498-43B3-948B-1728B52AA6E4}">
                <adec:decorative xmlns:adec="http://schemas.microsoft.com/office/drawing/2017/decorative" val="1"/>
              </a:ext>
            </a:extLst>
          </p:cNvPr>
          <p:cNvSpPr/>
          <p:nvPr/>
        </p:nvSpPr>
        <p:spPr>
          <a:xfrm>
            <a:off x="-151546" y="12859"/>
            <a:ext cx="6096000" cy="6857999"/>
          </a:xfrm>
          <a:prstGeom prst="rect">
            <a:avLst/>
          </a:prstGeom>
          <a:solidFill>
            <a:srgbClr val="30353F">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C183D7F6-B498-43B3-948B-1728B52AA6E4}">
                <adec:decorative xmlns:adec="http://schemas.microsoft.com/office/drawing/2017/decorative" val="1"/>
              </a:ext>
            </a:extLst>
          </p:cNvPr>
          <p:cNvGrpSpPr/>
          <p:nvPr/>
        </p:nvGrpSpPr>
        <p:grpSpPr>
          <a:xfrm>
            <a:off x="9912263" y="3897569"/>
            <a:ext cx="1281512" cy="487738"/>
            <a:chOff x="9912263" y="3897569"/>
            <a:chExt cx="1281512" cy="487738"/>
          </a:xfrm>
          <a:effectLst>
            <a:outerShdw blurRad="50800" dist="38100" dir="8100000" algn="tr" rotWithShape="0">
              <a:prstClr val="black">
                <a:alpha val="40000"/>
              </a:prstClr>
            </a:outerShdw>
          </a:effectLst>
        </p:grpSpPr>
        <p:sp>
          <p:nvSpPr>
            <p:cNvPr id="53" name="Freeform 52"/>
            <p:cNvSpPr/>
            <p:nvPr/>
          </p:nvSpPr>
          <p:spPr>
            <a:xfrm flipH="1">
              <a:off x="9912263" y="3897569"/>
              <a:ext cx="1281512" cy="487738"/>
            </a:xfrm>
            <a:custGeom>
              <a:avLst/>
              <a:gdLst>
                <a:gd name="connsiteX0" fmla="*/ 1281512 w 1281512"/>
                <a:gd name="connsiteY0" fmla="*/ 0 h 487738"/>
                <a:gd name="connsiteX1" fmla="*/ 256995 w 1281512"/>
                <a:gd name="connsiteY1" fmla="*/ 0 h 487738"/>
                <a:gd name="connsiteX2" fmla="*/ 256995 w 1281512"/>
                <a:gd name="connsiteY2" fmla="*/ 1323 h 487738"/>
                <a:gd name="connsiteX3" fmla="*/ 243869 w 1281512"/>
                <a:gd name="connsiteY3" fmla="*/ 0 h 487738"/>
                <a:gd name="connsiteX4" fmla="*/ 0 w 1281512"/>
                <a:gd name="connsiteY4" fmla="*/ 243869 h 487738"/>
                <a:gd name="connsiteX5" fmla="*/ 243869 w 1281512"/>
                <a:gd name="connsiteY5" fmla="*/ 487738 h 487738"/>
                <a:gd name="connsiteX6" fmla="*/ 256995 w 1281512"/>
                <a:gd name="connsiteY6" fmla="*/ 486415 h 487738"/>
                <a:gd name="connsiteX7" fmla="*/ 256995 w 1281512"/>
                <a:gd name="connsiteY7" fmla="*/ 487737 h 487738"/>
                <a:gd name="connsiteX8" fmla="*/ 1281512 w 1281512"/>
                <a:gd name="connsiteY8" fmla="*/ 487737 h 487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512" h="487738">
                  <a:moveTo>
                    <a:pt x="1281512" y="0"/>
                  </a:moveTo>
                  <a:lnTo>
                    <a:pt x="256995" y="0"/>
                  </a:lnTo>
                  <a:lnTo>
                    <a:pt x="256995" y="1323"/>
                  </a:lnTo>
                  <a:lnTo>
                    <a:pt x="243869" y="0"/>
                  </a:lnTo>
                  <a:cubicBezTo>
                    <a:pt x="109184" y="0"/>
                    <a:pt x="0" y="109184"/>
                    <a:pt x="0" y="243869"/>
                  </a:cubicBezTo>
                  <a:cubicBezTo>
                    <a:pt x="0" y="378554"/>
                    <a:pt x="109184" y="487738"/>
                    <a:pt x="243869" y="487738"/>
                  </a:cubicBezTo>
                  <a:lnTo>
                    <a:pt x="256995" y="486415"/>
                  </a:lnTo>
                  <a:lnTo>
                    <a:pt x="256995" y="487737"/>
                  </a:lnTo>
                  <a:lnTo>
                    <a:pt x="1281512" y="487737"/>
                  </a:lnTo>
                  <a:close/>
                </a:path>
              </a:pathLst>
            </a:custGeom>
            <a:solidFill>
              <a:srgbClr val="4FD0D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0" name="Group 39"/>
            <p:cNvGrpSpPr/>
            <p:nvPr/>
          </p:nvGrpSpPr>
          <p:grpSpPr>
            <a:xfrm>
              <a:off x="10813249" y="4076466"/>
              <a:ext cx="273316" cy="129944"/>
              <a:chOff x="4254500" y="2100263"/>
              <a:chExt cx="1906588" cy="906463"/>
            </a:xfrm>
          </p:grpSpPr>
          <p:sp>
            <p:nvSpPr>
              <p:cNvPr id="41" name="Freeform 5"/>
              <p:cNvSpPr>
                <a:spLocks noEditPoints="1"/>
              </p:cNvSpPr>
              <p:nvPr/>
            </p:nvSpPr>
            <p:spPr bwMode="auto">
              <a:xfrm>
                <a:off x="4254500" y="2100263"/>
                <a:ext cx="1906588" cy="906463"/>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2" name="Freeform 6"/>
              <p:cNvSpPr>
                <a:spLocks/>
              </p:cNvSpPr>
              <p:nvPr/>
            </p:nvSpPr>
            <p:spPr bwMode="auto">
              <a:xfrm>
                <a:off x="4752975" y="2598738"/>
                <a:ext cx="176213" cy="174625"/>
              </a:xfrm>
              <a:custGeom>
                <a:avLst/>
                <a:gdLst>
                  <a:gd name="T0" fmla="*/ 172 w 190"/>
                  <a:gd name="T1" fmla="*/ 18 h 186"/>
                  <a:gd name="T2" fmla="*/ 109 w 190"/>
                  <a:gd name="T3" fmla="*/ 18 h 186"/>
                  <a:gd name="T4" fmla="*/ 17 w 190"/>
                  <a:gd name="T5" fmla="*/ 109 h 186"/>
                  <a:gd name="T6" fmla="*/ 17 w 190"/>
                  <a:gd name="T7" fmla="*/ 173 h 186"/>
                  <a:gd name="T8" fmla="*/ 49 w 190"/>
                  <a:gd name="T9" fmla="*/ 186 h 186"/>
                  <a:gd name="T10" fmla="*/ 81 w 190"/>
                  <a:gd name="T11" fmla="*/ 173 h 186"/>
                  <a:gd name="T12" fmla="*/ 172 w 190"/>
                  <a:gd name="T13" fmla="*/ 81 h 186"/>
                  <a:gd name="T14" fmla="*/ 172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2" y="18"/>
                    </a:moveTo>
                    <a:cubicBezTo>
                      <a:pt x="155" y="0"/>
                      <a:pt x="126" y="0"/>
                      <a:pt x="109" y="18"/>
                    </a:cubicBezTo>
                    <a:cubicBezTo>
                      <a:pt x="17" y="109"/>
                      <a:pt x="17" y="109"/>
                      <a:pt x="17" y="109"/>
                    </a:cubicBezTo>
                    <a:cubicBezTo>
                      <a:pt x="0" y="127"/>
                      <a:pt x="0" y="155"/>
                      <a:pt x="17" y="173"/>
                    </a:cubicBezTo>
                    <a:cubicBezTo>
                      <a:pt x="26" y="182"/>
                      <a:pt x="37" y="186"/>
                      <a:pt x="49" y="186"/>
                    </a:cubicBezTo>
                    <a:cubicBezTo>
                      <a:pt x="60" y="186"/>
                      <a:pt x="72" y="182"/>
                      <a:pt x="81" y="173"/>
                    </a:cubicBezTo>
                    <a:cubicBezTo>
                      <a:pt x="172" y="81"/>
                      <a:pt x="172" y="81"/>
                      <a:pt x="172" y="81"/>
                    </a:cubicBezTo>
                    <a:cubicBezTo>
                      <a:pt x="190" y="64"/>
                      <a:pt x="190" y="35"/>
                      <a:pt x="172"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3" name="Freeform 7"/>
              <p:cNvSpPr>
                <a:spLocks/>
              </p:cNvSpPr>
              <p:nvPr/>
            </p:nvSpPr>
            <p:spPr bwMode="auto">
              <a:xfrm>
                <a:off x="5486400" y="2330451"/>
                <a:ext cx="177800" cy="174625"/>
              </a:xfrm>
              <a:custGeom>
                <a:avLst/>
                <a:gdLst>
                  <a:gd name="T0" fmla="*/ 173 w 190"/>
                  <a:gd name="T1" fmla="*/ 18 h 186"/>
                  <a:gd name="T2" fmla="*/ 109 w 190"/>
                  <a:gd name="T3" fmla="*/ 18 h 186"/>
                  <a:gd name="T4" fmla="*/ 18 w 190"/>
                  <a:gd name="T5" fmla="*/ 109 h 186"/>
                  <a:gd name="T6" fmla="*/ 18 w 190"/>
                  <a:gd name="T7" fmla="*/ 173 h 186"/>
                  <a:gd name="T8" fmla="*/ 50 w 190"/>
                  <a:gd name="T9" fmla="*/ 186 h 186"/>
                  <a:gd name="T10" fmla="*/ 81 w 190"/>
                  <a:gd name="T11" fmla="*/ 173 h 186"/>
                  <a:gd name="T12" fmla="*/ 173 w 190"/>
                  <a:gd name="T13" fmla="*/ 81 h 186"/>
                  <a:gd name="T14" fmla="*/ 173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3" y="18"/>
                    </a:moveTo>
                    <a:cubicBezTo>
                      <a:pt x="155" y="0"/>
                      <a:pt x="127" y="0"/>
                      <a:pt x="109" y="18"/>
                    </a:cubicBezTo>
                    <a:cubicBezTo>
                      <a:pt x="18" y="109"/>
                      <a:pt x="18" y="109"/>
                      <a:pt x="18" y="109"/>
                    </a:cubicBezTo>
                    <a:cubicBezTo>
                      <a:pt x="0" y="127"/>
                      <a:pt x="0" y="155"/>
                      <a:pt x="18" y="173"/>
                    </a:cubicBezTo>
                    <a:cubicBezTo>
                      <a:pt x="27" y="182"/>
                      <a:pt x="38" y="186"/>
                      <a:pt x="50" y="186"/>
                    </a:cubicBezTo>
                    <a:cubicBezTo>
                      <a:pt x="61" y="186"/>
                      <a:pt x="73" y="181"/>
                      <a:pt x="81" y="173"/>
                    </a:cubicBezTo>
                    <a:cubicBezTo>
                      <a:pt x="173" y="81"/>
                      <a:pt x="173" y="81"/>
                      <a:pt x="173" y="81"/>
                    </a:cubicBezTo>
                    <a:cubicBezTo>
                      <a:pt x="190" y="64"/>
                      <a:pt x="190" y="35"/>
                      <a:pt x="173"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pic>
        <p:nvPicPr>
          <p:cNvPr id="4" name="Picture 3">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4598" y="860212"/>
            <a:ext cx="8975028" cy="5521746"/>
          </a:xfrm>
          <a:prstGeom prst="rect">
            <a:avLst/>
          </a:prstGeom>
        </p:spPr>
      </p:pic>
      <p:sp>
        <p:nvSpPr>
          <p:cNvPr id="2" name="Freeform 1">
            <a:extLs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3" name="TextBox 2"/>
          <p:cNvSpPr txBox="1"/>
          <p:nvPr/>
        </p:nvSpPr>
        <p:spPr>
          <a:xfrm>
            <a:off x="11857440" y="6481180"/>
            <a:ext cx="277640" cy="307777"/>
          </a:xfrm>
          <a:prstGeom prst="rect">
            <a:avLst/>
          </a:prstGeom>
          <a:noFill/>
        </p:spPr>
        <p:txBody>
          <a:bodyPr wrap="none" rtlCol="0">
            <a:spAutoFit/>
          </a:bodyPr>
          <a:lstStyle/>
          <a:p>
            <a:r>
              <a:rPr lang="en-US" sz="1400" b="1" dirty="0">
                <a:solidFill>
                  <a:schemeClr val="bg1"/>
                </a:solidFill>
              </a:rPr>
              <a:t>7</a:t>
            </a:r>
          </a:p>
        </p:txBody>
      </p:sp>
      <p:sp>
        <p:nvSpPr>
          <p:cNvPr id="102" name="TextBox 101"/>
          <p:cNvSpPr txBox="1"/>
          <p:nvPr/>
        </p:nvSpPr>
        <p:spPr>
          <a:xfrm>
            <a:off x="619825" y="1880532"/>
            <a:ext cx="2596161" cy="2769989"/>
          </a:xfrm>
          <a:prstGeom prst="rect">
            <a:avLst/>
          </a:prstGeom>
          <a:noFill/>
        </p:spPr>
        <p:txBody>
          <a:bodyPr wrap="square" lIns="0" tIns="0" rIns="0" bIns="0" rtlCol="0">
            <a:spAutoFit/>
          </a:bodyPr>
          <a:lstStyle/>
          <a:p>
            <a:pPr algn="ctr"/>
            <a:r>
              <a:rPr lang="en-US" dirty="0">
                <a:solidFill>
                  <a:schemeClr val="bg1"/>
                </a:solidFill>
              </a:rPr>
              <a:t>The dramatic rise of attendance in Islands of Adventure and Universal Studios Florida compared to their competition follows the introduction of the themed land, the Wizarding World of Harry Potter Hogsmeade in 2010 and Diagon Alley in 2014.</a:t>
            </a:r>
          </a:p>
        </p:txBody>
      </p:sp>
      <p:sp>
        <p:nvSpPr>
          <p:cNvPr id="103" name="TextBox 102"/>
          <p:cNvSpPr txBox="1"/>
          <p:nvPr/>
        </p:nvSpPr>
        <p:spPr>
          <a:xfrm>
            <a:off x="199851" y="477227"/>
            <a:ext cx="5152339" cy="492443"/>
          </a:xfrm>
          <a:prstGeom prst="rect">
            <a:avLst/>
          </a:prstGeom>
          <a:noFill/>
        </p:spPr>
        <p:txBody>
          <a:bodyPr wrap="square" lIns="0" tIns="0" rIns="0" bIns="0" rtlCol="0">
            <a:spAutoFit/>
          </a:bodyPr>
          <a:lstStyle/>
          <a:p>
            <a:pPr algn="ctr">
              <a:tabLst>
                <a:tab pos="347663" algn="l"/>
              </a:tabLst>
            </a:pPr>
            <a:r>
              <a:rPr lang="en-US" sz="3200" b="1" dirty="0">
                <a:solidFill>
                  <a:srgbClr val="FFFFFF"/>
                </a:solidFill>
                <a:latin typeface="+mj-lt"/>
              </a:rPr>
              <a:t>ATTENDANCE = REVENUE</a:t>
            </a:r>
          </a:p>
        </p:txBody>
      </p:sp>
      <p:cxnSp>
        <p:nvCxnSpPr>
          <p:cNvPr id="105" name="Straight Connector 104">
            <a:extLst>
              <a:ext uri="{C183D7F6-B498-43B3-948B-1728B52AA6E4}">
                <adec:decorative xmlns:adec="http://schemas.microsoft.com/office/drawing/2017/decorative" val="1"/>
              </a:ext>
            </a:extLst>
          </p:cNvPr>
          <p:cNvCxnSpPr>
            <a:cxnSpLocks/>
          </p:cNvCxnSpPr>
          <p:nvPr/>
        </p:nvCxnSpPr>
        <p:spPr>
          <a:xfrm>
            <a:off x="559336" y="1577516"/>
            <a:ext cx="2779627"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4" name="Group 33">
            <a:extLst>
              <a:ext uri="{C183D7F6-B498-43B3-948B-1728B52AA6E4}">
                <adec:decorative xmlns:adec="http://schemas.microsoft.com/office/drawing/2017/decorative" val="1"/>
              </a:ext>
            </a:extLst>
          </p:cNvPr>
          <p:cNvGrpSpPr/>
          <p:nvPr/>
        </p:nvGrpSpPr>
        <p:grpSpPr>
          <a:xfrm>
            <a:off x="8881068" y="3621085"/>
            <a:ext cx="414478" cy="197058"/>
            <a:chOff x="4254500" y="2100263"/>
            <a:chExt cx="1906588" cy="906463"/>
          </a:xfrm>
        </p:grpSpPr>
        <p:sp>
          <p:nvSpPr>
            <p:cNvPr id="35" name="Freeform 5"/>
            <p:cNvSpPr>
              <a:spLocks noEditPoints="1"/>
            </p:cNvSpPr>
            <p:nvPr/>
          </p:nvSpPr>
          <p:spPr bwMode="auto">
            <a:xfrm>
              <a:off x="4254500" y="2100263"/>
              <a:ext cx="1906588" cy="906463"/>
            </a:xfrm>
            <a:custGeom>
              <a:avLst/>
              <a:gdLst>
                <a:gd name="T0" fmla="*/ 1831 w 2048"/>
                <a:gd name="T1" fmla="*/ 0 h 970"/>
                <a:gd name="T2" fmla="*/ 1613 w 2048"/>
                <a:gd name="T3" fmla="*/ 217 h 970"/>
                <a:gd name="T4" fmla="*/ 1648 w 2048"/>
                <a:gd name="T5" fmla="*/ 336 h 970"/>
                <a:gd name="T6" fmla="*/ 1413 w 2048"/>
                <a:gd name="T7" fmla="*/ 571 h 970"/>
                <a:gd name="T8" fmla="*/ 1295 w 2048"/>
                <a:gd name="T9" fmla="*/ 535 h 970"/>
                <a:gd name="T10" fmla="*/ 1173 w 2048"/>
                <a:gd name="T11" fmla="*/ 573 h 970"/>
                <a:gd name="T12" fmla="*/ 935 w 2048"/>
                <a:gd name="T13" fmla="*/ 336 h 970"/>
                <a:gd name="T14" fmla="*/ 971 w 2048"/>
                <a:gd name="T15" fmla="*/ 217 h 970"/>
                <a:gd name="T16" fmla="*/ 753 w 2048"/>
                <a:gd name="T17" fmla="*/ 0 h 970"/>
                <a:gd name="T18" fmla="*/ 536 w 2048"/>
                <a:gd name="T19" fmla="*/ 217 h 970"/>
                <a:gd name="T20" fmla="*/ 571 w 2048"/>
                <a:gd name="T21" fmla="*/ 336 h 970"/>
                <a:gd name="T22" fmla="*/ 336 w 2048"/>
                <a:gd name="T23" fmla="*/ 571 h 970"/>
                <a:gd name="T24" fmla="*/ 217 w 2048"/>
                <a:gd name="T25" fmla="*/ 535 h 970"/>
                <a:gd name="T26" fmla="*/ 0 w 2048"/>
                <a:gd name="T27" fmla="*/ 753 h 970"/>
                <a:gd name="T28" fmla="*/ 217 w 2048"/>
                <a:gd name="T29" fmla="*/ 970 h 970"/>
                <a:gd name="T30" fmla="*/ 435 w 2048"/>
                <a:gd name="T31" fmla="*/ 753 h 970"/>
                <a:gd name="T32" fmla="*/ 400 w 2048"/>
                <a:gd name="T33" fmla="*/ 634 h 970"/>
                <a:gd name="T34" fmla="*/ 635 w 2048"/>
                <a:gd name="T35" fmla="*/ 399 h 970"/>
                <a:gd name="T36" fmla="*/ 753 w 2048"/>
                <a:gd name="T37" fmla="*/ 435 h 970"/>
                <a:gd name="T38" fmla="*/ 872 w 2048"/>
                <a:gd name="T39" fmla="*/ 399 h 970"/>
                <a:gd name="T40" fmla="*/ 1110 w 2048"/>
                <a:gd name="T41" fmla="*/ 638 h 970"/>
                <a:gd name="T42" fmla="*/ 1077 w 2048"/>
                <a:gd name="T43" fmla="*/ 753 h 970"/>
                <a:gd name="T44" fmla="*/ 1295 w 2048"/>
                <a:gd name="T45" fmla="*/ 970 h 970"/>
                <a:gd name="T46" fmla="*/ 1512 w 2048"/>
                <a:gd name="T47" fmla="*/ 753 h 970"/>
                <a:gd name="T48" fmla="*/ 1477 w 2048"/>
                <a:gd name="T49" fmla="*/ 634 h 970"/>
                <a:gd name="T50" fmla="*/ 1712 w 2048"/>
                <a:gd name="T51" fmla="*/ 399 h 970"/>
                <a:gd name="T52" fmla="*/ 1831 w 2048"/>
                <a:gd name="T53" fmla="*/ 435 h 970"/>
                <a:gd name="T54" fmla="*/ 2048 w 2048"/>
                <a:gd name="T55" fmla="*/ 217 h 970"/>
                <a:gd name="T56" fmla="*/ 1831 w 2048"/>
                <a:gd name="T57" fmla="*/ 0 h 970"/>
                <a:gd name="T58" fmla="*/ 217 w 2048"/>
                <a:gd name="T59" fmla="*/ 880 h 970"/>
                <a:gd name="T60" fmla="*/ 90 w 2048"/>
                <a:gd name="T61" fmla="*/ 753 h 970"/>
                <a:gd name="T62" fmla="*/ 217 w 2048"/>
                <a:gd name="T63" fmla="*/ 625 h 970"/>
                <a:gd name="T64" fmla="*/ 345 w 2048"/>
                <a:gd name="T65" fmla="*/ 753 h 970"/>
                <a:gd name="T66" fmla="*/ 217 w 2048"/>
                <a:gd name="T67" fmla="*/ 880 h 970"/>
                <a:gd name="T68" fmla="*/ 753 w 2048"/>
                <a:gd name="T69" fmla="*/ 345 h 970"/>
                <a:gd name="T70" fmla="*/ 626 w 2048"/>
                <a:gd name="T71" fmla="*/ 217 h 970"/>
                <a:gd name="T72" fmla="*/ 753 w 2048"/>
                <a:gd name="T73" fmla="*/ 90 h 970"/>
                <a:gd name="T74" fmla="*/ 881 w 2048"/>
                <a:gd name="T75" fmla="*/ 217 h 970"/>
                <a:gd name="T76" fmla="*/ 753 w 2048"/>
                <a:gd name="T77" fmla="*/ 345 h 970"/>
                <a:gd name="T78" fmla="*/ 1295 w 2048"/>
                <a:gd name="T79" fmla="*/ 880 h 970"/>
                <a:gd name="T80" fmla="*/ 1167 w 2048"/>
                <a:gd name="T81" fmla="*/ 753 h 970"/>
                <a:gd name="T82" fmla="*/ 1295 w 2048"/>
                <a:gd name="T83" fmla="*/ 625 h 970"/>
                <a:gd name="T84" fmla="*/ 1422 w 2048"/>
                <a:gd name="T85" fmla="*/ 753 h 970"/>
                <a:gd name="T86" fmla="*/ 1295 w 2048"/>
                <a:gd name="T87" fmla="*/ 880 h 970"/>
                <a:gd name="T88" fmla="*/ 1831 w 2048"/>
                <a:gd name="T89" fmla="*/ 345 h 970"/>
                <a:gd name="T90" fmla="*/ 1703 w 2048"/>
                <a:gd name="T91" fmla="*/ 217 h 970"/>
                <a:gd name="T92" fmla="*/ 1831 w 2048"/>
                <a:gd name="T93" fmla="*/ 90 h 970"/>
                <a:gd name="T94" fmla="*/ 1958 w 2048"/>
                <a:gd name="T95" fmla="*/ 217 h 970"/>
                <a:gd name="T96" fmla="*/ 1831 w 2048"/>
                <a:gd name="T97" fmla="*/ 345 h 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048" h="970">
                  <a:moveTo>
                    <a:pt x="1831" y="0"/>
                  </a:moveTo>
                  <a:cubicBezTo>
                    <a:pt x="1711" y="0"/>
                    <a:pt x="1613" y="97"/>
                    <a:pt x="1613" y="217"/>
                  </a:cubicBezTo>
                  <a:cubicBezTo>
                    <a:pt x="1613" y="261"/>
                    <a:pt x="1626" y="302"/>
                    <a:pt x="1648" y="336"/>
                  </a:cubicBezTo>
                  <a:cubicBezTo>
                    <a:pt x="1413" y="571"/>
                    <a:pt x="1413" y="571"/>
                    <a:pt x="1413" y="571"/>
                  </a:cubicBezTo>
                  <a:cubicBezTo>
                    <a:pt x="1379" y="548"/>
                    <a:pt x="1339" y="535"/>
                    <a:pt x="1295" y="535"/>
                  </a:cubicBezTo>
                  <a:cubicBezTo>
                    <a:pt x="1250" y="535"/>
                    <a:pt x="1207" y="549"/>
                    <a:pt x="1173" y="573"/>
                  </a:cubicBezTo>
                  <a:cubicBezTo>
                    <a:pt x="935" y="336"/>
                    <a:pt x="935" y="336"/>
                    <a:pt x="935" y="336"/>
                  </a:cubicBezTo>
                  <a:cubicBezTo>
                    <a:pt x="958" y="302"/>
                    <a:pt x="971" y="261"/>
                    <a:pt x="971" y="217"/>
                  </a:cubicBezTo>
                  <a:cubicBezTo>
                    <a:pt x="971" y="97"/>
                    <a:pt x="873" y="0"/>
                    <a:pt x="753" y="0"/>
                  </a:cubicBezTo>
                  <a:cubicBezTo>
                    <a:pt x="633" y="0"/>
                    <a:pt x="536" y="97"/>
                    <a:pt x="536" y="217"/>
                  </a:cubicBezTo>
                  <a:cubicBezTo>
                    <a:pt x="536" y="261"/>
                    <a:pt x="549" y="302"/>
                    <a:pt x="571" y="336"/>
                  </a:cubicBezTo>
                  <a:cubicBezTo>
                    <a:pt x="336" y="571"/>
                    <a:pt x="336" y="571"/>
                    <a:pt x="336" y="571"/>
                  </a:cubicBezTo>
                  <a:cubicBezTo>
                    <a:pt x="302" y="548"/>
                    <a:pt x="261" y="535"/>
                    <a:pt x="217" y="535"/>
                  </a:cubicBezTo>
                  <a:cubicBezTo>
                    <a:pt x="98" y="535"/>
                    <a:pt x="0" y="633"/>
                    <a:pt x="0" y="753"/>
                  </a:cubicBezTo>
                  <a:cubicBezTo>
                    <a:pt x="0" y="873"/>
                    <a:pt x="98" y="970"/>
                    <a:pt x="217" y="970"/>
                  </a:cubicBezTo>
                  <a:cubicBezTo>
                    <a:pt x="337" y="970"/>
                    <a:pt x="435" y="873"/>
                    <a:pt x="435" y="753"/>
                  </a:cubicBezTo>
                  <a:cubicBezTo>
                    <a:pt x="435" y="709"/>
                    <a:pt x="422" y="668"/>
                    <a:pt x="400" y="634"/>
                  </a:cubicBezTo>
                  <a:cubicBezTo>
                    <a:pt x="635" y="399"/>
                    <a:pt x="635" y="399"/>
                    <a:pt x="635" y="399"/>
                  </a:cubicBezTo>
                  <a:cubicBezTo>
                    <a:pt x="669" y="422"/>
                    <a:pt x="709" y="435"/>
                    <a:pt x="753" y="435"/>
                  </a:cubicBezTo>
                  <a:cubicBezTo>
                    <a:pt x="797" y="435"/>
                    <a:pt x="838" y="422"/>
                    <a:pt x="872" y="399"/>
                  </a:cubicBezTo>
                  <a:cubicBezTo>
                    <a:pt x="1110" y="638"/>
                    <a:pt x="1110" y="638"/>
                    <a:pt x="1110" y="638"/>
                  </a:cubicBezTo>
                  <a:cubicBezTo>
                    <a:pt x="1090" y="671"/>
                    <a:pt x="1077" y="711"/>
                    <a:pt x="1077" y="753"/>
                  </a:cubicBezTo>
                  <a:cubicBezTo>
                    <a:pt x="1077" y="873"/>
                    <a:pt x="1175" y="970"/>
                    <a:pt x="1295" y="970"/>
                  </a:cubicBezTo>
                  <a:cubicBezTo>
                    <a:pt x="1415" y="970"/>
                    <a:pt x="1512" y="873"/>
                    <a:pt x="1512" y="753"/>
                  </a:cubicBezTo>
                  <a:cubicBezTo>
                    <a:pt x="1512" y="709"/>
                    <a:pt x="1499" y="668"/>
                    <a:pt x="1477" y="634"/>
                  </a:cubicBezTo>
                  <a:cubicBezTo>
                    <a:pt x="1712" y="399"/>
                    <a:pt x="1712" y="399"/>
                    <a:pt x="1712" y="399"/>
                  </a:cubicBezTo>
                  <a:cubicBezTo>
                    <a:pt x="1746" y="422"/>
                    <a:pt x="1787" y="435"/>
                    <a:pt x="1831" y="435"/>
                  </a:cubicBezTo>
                  <a:cubicBezTo>
                    <a:pt x="1950" y="435"/>
                    <a:pt x="2048" y="337"/>
                    <a:pt x="2048" y="217"/>
                  </a:cubicBezTo>
                  <a:cubicBezTo>
                    <a:pt x="2048" y="97"/>
                    <a:pt x="1950" y="0"/>
                    <a:pt x="1831" y="0"/>
                  </a:cubicBezTo>
                  <a:close/>
                  <a:moveTo>
                    <a:pt x="217" y="880"/>
                  </a:moveTo>
                  <a:cubicBezTo>
                    <a:pt x="147" y="880"/>
                    <a:pt x="90" y="823"/>
                    <a:pt x="90" y="753"/>
                  </a:cubicBezTo>
                  <a:cubicBezTo>
                    <a:pt x="90" y="682"/>
                    <a:pt x="147" y="625"/>
                    <a:pt x="217" y="625"/>
                  </a:cubicBezTo>
                  <a:cubicBezTo>
                    <a:pt x="288" y="625"/>
                    <a:pt x="345" y="682"/>
                    <a:pt x="345" y="753"/>
                  </a:cubicBezTo>
                  <a:cubicBezTo>
                    <a:pt x="345" y="823"/>
                    <a:pt x="288" y="880"/>
                    <a:pt x="217" y="880"/>
                  </a:cubicBezTo>
                  <a:close/>
                  <a:moveTo>
                    <a:pt x="753" y="345"/>
                  </a:moveTo>
                  <a:cubicBezTo>
                    <a:pt x="683" y="345"/>
                    <a:pt x="626" y="288"/>
                    <a:pt x="626" y="217"/>
                  </a:cubicBezTo>
                  <a:cubicBezTo>
                    <a:pt x="626" y="147"/>
                    <a:pt x="683" y="90"/>
                    <a:pt x="753" y="90"/>
                  </a:cubicBezTo>
                  <a:cubicBezTo>
                    <a:pt x="823" y="90"/>
                    <a:pt x="881" y="147"/>
                    <a:pt x="881" y="217"/>
                  </a:cubicBezTo>
                  <a:cubicBezTo>
                    <a:pt x="881" y="288"/>
                    <a:pt x="823" y="345"/>
                    <a:pt x="753" y="345"/>
                  </a:cubicBezTo>
                  <a:close/>
                  <a:moveTo>
                    <a:pt x="1295" y="880"/>
                  </a:moveTo>
                  <a:cubicBezTo>
                    <a:pt x="1225" y="880"/>
                    <a:pt x="1167" y="823"/>
                    <a:pt x="1167" y="753"/>
                  </a:cubicBezTo>
                  <a:cubicBezTo>
                    <a:pt x="1167" y="682"/>
                    <a:pt x="1225" y="625"/>
                    <a:pt x="1295" y="625"/>
                  </a:cubicBezTo>
                  <a:cubicBezTo>
                    <a:pt x="1365" y="625"/>
                    <a:pt x="1422" y="682"/>
                    <a:pt x="1422" y="753"/>
                  </a:cubicBezTo>
                  <a:cubicBezTo>
                    <a:pt x="1422" y="823"/>
                    <a:pt x="1365" y="880"/>
                    <a:pt x="1295" y="880"/>
                  </a:cubicBezTo>
                  <a:close/>
                  <a:moveTo>
                    <a:pt x="1831" y="345"/>
                  </a:moveTo>
                  <a:cubicBezTo>
                    <a:pt x="1760" y="345"/>
                    <a:pt x="1703" y="288"/>
                    <a:pt x="1703" y="217"/>
                  </a:cubicBezTo>
                  <a:cubicBezTo>
                    <a:pt x="1703" y="147"/>
                    <a:pt x="1760" y="90"/>
                    <a:pt x="1831" y="90"/>
                  </a:cubicBezTo>
                  <a:cubicBezTo>
                    <a:pt x="1901" y="90"/>
                    <a:pt x="1958" y="147"/>
                    <a:pt x="1958" y="217"/>
                  </a:cubicBezTo>
                  <a:cubicBezTo>
                    <a:pt x="1958" y="288"/>
                    <a:pt x="1901" y="345"/>
                    <a:pt x="1831" y="34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6"/>
            <p:cNvSpPr>
              <a:spLocks/>
            </p:cNvSpPr>
            <p:nvPr/>
          </p:nvSpPr>
          <p:spPr bwMode="auto">
            <a:xfrm>
              <a:off x="4752975" y="2598738"/>
              <a:ext cx="176213" cy="174625"/>
            </a:xfrm>
            <a:custGeom>
              <a:avLst/>
              <a:gdLst>
                <a:gd name="T0" fmla="*/ 172 w 190"/>
                <a:gd name="T1" fmla="*/ 18 h 186"/>
                <a:gd name="T2" fmla="*/ 109 w 190"/>
                <a:gd name="T3" fmla="*/ 18 h 186"/>
                <a:gd name="T4" fmla="*/ 17 w 190"/>
                <a:gd name="T5" fmla="*/ 109 h 186"/>
                <a:gd name="T6" fmla="*/ 17 w 190"/>
                <a:gd name="T7" fmla="*/ 173 h 186"/>
                <a:gd name="T8" fmla="*/ 49 w 190"/>
                <a:gd name="T9" fmla="*/ 186 h 186"/>
                <a:gd name="T10" fmla="*/ 81 w 190"/>
                <a:gd name="T11" fmla="*/ 173 h 186"/>
                <a:gd name="T12" fmla="*/ 172 w 190"/>
                <a:gd name="T13" fmla="*/ 81 h 186"/>
                <a:gd name="T14" fmla="*/ 172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2" y="18"/>
                  </a:moveTo>
                  <a:cubicBezTo>
                    <a:pt x="155" y="0"/>
                    <a:pt x="126" y="0"/>
                    <a:pt x="109" y="18"/>
                  </a:cubicBezTo>
                  <a:cubicBezTo>
                    <a:pt x="17" y="109"/>
                    <a:pt x="17" y="109"/>
                    <a:pt x="17" y="109"/>
                  </a:cubicBezTo>
                  <a:cubicBezTo>
                    <a:pt x="0" y="127"/>
                    <a:pt x="0" y="155"/>
                    <a:pt x="17" y="173"/>
                  </a:cubicBezTo>
                  <a:cubicBezTo>
                    <a:pt x="26" y="182"/>
                    <a:pt x="37" y="186"/>
                    <a:pt x="49" y="186"/>
                  </a:cubicBezTo>
                  <a:cubicBezTo>
                    <a:pt x="60" y="186"/>
                    <a:pt x="72" y="182"/>
                    <a:pt x="81" y="173"/>
                  </a:cubicBezTo>
                  <a:cubicBezTo>
                    <a:pt x="172" y="81"/>
                    <a:pt x="172" y="81"/>
                    <a:pt x="172" y="81"/>
                  </a:cubicBezTo>
                  <a:cubicBezTo>
                    <a:pt x="190" y="64"/>
                    <a:pt x="190" y="35"/>
                    <a:pt x="172"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 name="Freeform 7"/>
            <p:cNvSpPr>
              <a:spLocks/>
            </p:cNvSpPr>
            <p:nvPr/>
          </p:nvSpPr>
          <p:spPr bwMode="auto">
            <a:xfrm>
              <a:off x="5486400" y="2330451"/>
              <a:ext cx="177800" cy="174625"/>
            </a:xfrm>
            <a:custGeom>
              <a:avLst/>
              <a:gdLst>
                <a:gd name="T0" fmla="*/ 173 w 190"/>
                <a:gd name="T1" fmla="*/ 18 h 186"/>
                <a:gd name="T2" fmla="*/ 109 w 190"/>
                <a:gd name="T3" fmla="*/ 18 h 186"/>
                <a:gd name="T4" fmla="*/ 18 w 190"/>
                <a:gd name="T5" fmla="*/ 109 h 186"/>
                <a:gd name="T6" fmla="*/ 18 w 190"/>
                <a:gd name="T7" fmla="*/ 173 h 186"/>
                <a:gd name="T8" fmla="*/ 50 w 190"/>
                <a:gd name="T9" fmla="*/ 186 h 186"/>
                <a:gd name="T10" fmla="*/ 81 w 190"/>
                <a:gd name="T11" fmla="*/ 173 h 186"/>
                <a:gd name="T12" fmla="*/ 173 w 190"/>
                <a:gd name="T13" fmla="*/ 81 h 186"/>
                <a:gd name="T14" fmla="*/ 173 w 190"/>
                <a:gd name="T15" fmla="*/ 1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0" h="186">
                  <a:moveTo>
                    <a:pt x="173" y="18"/>
                  </a:moveTo>
                  <a:cubicBezTo>
                    <a:pt x="155" y="0"/>
                    <a:pt x="127" y="0"/>
                    <a:pt x="109" y="18"/>
                  </a:cubicBezTo>
                  <a:cubicBezTo>
                    <a:pt x="18" y="109"/>
                    <a:pt x="18" y="109"/>
                    <a:pt x="18" y="109"/>
                  </a:cubicBezTo>
                  <a:cubicBezTo>
                    <a:pt x="0" y="127"/>
                    <a:pt x="0" y="155"/>
                    <a:pt x="18" y="173"/>
                  </a:cubicBezTo>
                  <a:cubicBezTo>
                    <a:pt x="27" y="182"/>
                    <a:pt x="38" y="186"/>
                    <a:pt x="50" y="186"/>
                  </a:cubicBezTo>
                  <a:cubicBezTo>
                    <a:pt x="61" y="186"/>
                    <a:pt x="73" y="181"/>
                    <a:pt x="81" y="173"/>
                  </a:cubicBezTo>
                  <a:cubicBezTo>
                    <a:pt x="173" y="81"/>
                    <a:pt x="173" y="81"/>
                    <a:pt x="173" y="81"/>
                  </a:cubicBezTo>
                  <a:cubicBezTo>
                    <a:pt x="190" y="64"/>
                    <a:pt x="190" y="35"/>
                    <a:pt x="173" y="1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 name="Title 4" hidden="1">
            <a:extLst>
              <a:ext uri="{FF2B5EF4-FFF2-40B4-BE49-F238E27FC236}">
                <a16:creationId xmlns:a16="http://schemas.microsoft.com/office/drawing/2014/main" id="{B353CF45-7FD3-4F2B-B046-D14200DBD7E2}"/>
              </a:ext>
            </a:extLst>
          </p:cNvPr>
          <p:cNvSpPr>
            <a:spLocks noGrp="1"/>
          </p:cNvSpPr>
          <p:nvPr>
            <p:ph type="title"/>
          </p:nvPr>
        </p:nvSpPr>
        <p:spPr/>
        <p:txBody>
          <a:bodyPr/>
          <a:lstStyle/>
          <a:p>
            <a:r>
              <a:rPr lang="en-US" dirty="0"/>
              <a:t>Slide 10</a:t>
            </a:r>
          </a:p>
        </p:txBody>
      </p:sp>
      <p:pic>
        <p:nvPicPr>
          <p:cNvPr id="10" name="Picture 9" descr="Chart, line chart&#10;&#10;Description automatically generated">
            <a:extLst>
              <a:ext uri="{FF2B5EF4-FFF2-40B4-BE49-F238E27FC236}">
                <a16:creationId xmlns:a16="http://schemas.microsoft.com/office/drawing/2014/main" id="{F766EB37-97BF-EB92-878C-33DD60760E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30311" y="1577515"/>
            <a:ext cx="5677010" cy="3565983"/>
          </a:xfrm>
          <a:prstGeom prst="rect">
            <a:avLst/>
          </a:prstGeom>
        </p:spPr>
      </p:pic>
    </p:spTree>
    <p:extLst>
      <p:ext uri="{BB962C8B-B14F-4D97-AF65-F5344CB8AC3E}">
        <p14:creationId xmlns:p14="http://schemas.microsoft.com/office/powerpoint/2010/main" val="2420142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2EAEC"/>
        </a:solidFill>
        <a:effectLst/>
      </p:bgPr>
    </p:bg>
    <p:spTree>
      <p:nvGrpSpPr>
        <p:cNvPr id="1" name=""/>
        <p:cNvGrpSpPr/>
        <p:nvPr/>
      </p:nvGrpSpPr>
      <p:grpSpPr>
        <a:xfrm>
          <a:off x="0" y="0"/>
          <a:ext cx="0" cy="0"/>
          <a:chOff x="0" y="0"/>
          <a:chExt cx="0" cy="0"/>
        </a:xfrm>
      </p:grpSpPr>
      <p:sp>
        <p:nvSpPr>
          <p:cNvPr id="20" name="Freeform 19">
            <a:extLst>
              <a:ext uri="{C183D7F6-B498-43B3-948B-1728B52AA6E4}">
                <adec:decorative xmlns:adec="http://schemas.microsoft.com/office/drawing/2017/decorative" val="1"/>
              </a:ext>
            </a:extLst>
          </p:cNvPr>
          <p:cNvSpPr/>
          <p:nvPr/>
        </p:nvSpPr>
        <p:spPr>
          <a:xfrm rot="2700000">
            <a:off x="11788943" y="6333474"/>
            <a:ext cx="527486" cy="603188"/>
          </a:xfrm>
          <a:custGeom>
            <a:avLst/>
            <a:gdLst>
              <a:gd name="connsiteX0" fmla="*/ 110516 w 889463"/>
              <a:gd name="connsiteY0" fmla="*/ 95275 h 1017114"/>
              <a:gd name="connsiteX1" fmla="*/ 230452 w 889463"/>
              <a:gd name="connsiteY1" fmla="*/ 14411 h 1017114"/>
              <a:gd name="connsiteX2" fmla="*/ 276877 w 889463"/>
              <a:gd name="connsiteY2" fmla="*/ 0 h 1017114"/>
              <a:gd name="connsiteX3" fmla="*/ 889463 w 889463"/>
              <a:gd name="connsiteY3" fmla="*/ 612585 h 1017114"/>
              <a:gd name="connsiteX4" fmla="*/ 484934 w 889463"/>
              <a:gd name="connsiteY4" fmla="*/ 1017114 h 1017114"/>
              <a:gd name="connsiteX5" fmla="*/ 377324 w 889463"/>
              <a:gd name="connsiteY5" fmla="*/ 1017114 h 1017114"/>
              <a:gd name="connsiteX6" fmla="*/ 0 w 889463"/>
              <a:gd name="connsiteY6" fmla="*/ 639790 h 1017114"/>
              <a:gd name="connsiteX7" fmla="*/ 0 w 889463"/>
              <a:gd name="connsiteY7" fmla="*/ 362083 h 1017114"/>
              <a:gd name="connsiteX8" fmla="*/ 110516 w 889463"/>
              <a:gd name="connsiteY8" fmla="*/ 95275 h 1017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9463" h="1017114">
                <a:moveTo>
                  <a:pt x="110516" y="95275"/>
                </a:moveTo>
                <a:cubicBezTo>
                  <a:pt x="144657" y="61133"/>
                  <a:pt x="185310" y="33504"/>
                  <a:pt x="230452" y="14411"/>
                </a:cubicBezTo>
                <a:lnTo>
                  <a:pt x="276877" y="0"/>
                </a:lnTo>
                <a:lnTo>
                  <a:pt x="889463" y="612585"/>
                </a:lnTo>
                <a:lnTo>
                  <a:pt x="484934" y="1017114"/>
                </a:lnTo>
                <a:lnTo>
                  <a:pt x="377324" y="1017114"/>
                </a:lnTo>
                <a:cubicBezTo>
                  <a:pt x="168934" y="1017114"/>
                  <a:pt x="0" y="848180"/>
                  <a:pt x="0" y="639790"/>
                </a:cubicBezTo>
                <a:lnTo>
                  <a:pt x="0" y="362083"/>
                </a:lnTo>
                <a:cubicBezTo>
                  <a:pt x="0" y="257888"/>
                  <a:pt x="42234" y="163556"/>
                  <a:pt x="110516" y="95275"/>
                </a:cubicBez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98A3AD"/>
              </a:solidFill>
            </a:endParaRPr>
          </a:p>
        </p:txBody>
      </p:sp>
      <p:sp>
        <p:nvSpPr>
          <p:cNvPr id="21" name="TextBox 20"/>
          <p:cNvSpPr txBox="1"/>
          <p:nvPr/>
        </p:nvSpPr>
        <p:spPr>
          <a:xfrm>
            <a:off x="11907454" y="6481180"/>
            <a:ext cx="277640" cy="307777"/>
          </a:xfrm>
          <a:prstGeom prst="rect">
            <a:avLst/>
          </a:prstGeom>
          <a:noFill/>
        </p:spPr>
        <p:txBody>
          <a:bodyPr wrap="none" rtlCol="0">
            <a:spAutoFit/>
          </a:bodyPr>
          <a:lstStyle/>
          <a:p>
            <a:r>
              <a:rPr lang="en-US" sz="1400" b="1" dirty="0">
                <a:solidFill>
                  <a:schemeClr val="bg1"/>
                </a:solidFill>
              </a:rPr>
              <a:t>8</a:t>
            </a:r>
          </a:p>
        </p:txBody>
      </p:sp>
      <p:sp>
        <p:nvSpPr>
          <p:cNvPr id="83" name="TextBox 82">
            <a:extLst>
              <a:ext uri="{FF2B5EF4-FFF2-40B4-BE49-F238E27FC236}">
                <a16:creationId xmlns:a16="http://schemas.microsoft.com/office/drawing/2014/main" id="{DCD843C5-0DBD-4721-ACAD-288CC256EF82}"/>
              </a:ext>
            </a:extLst>
          </p:cNvPr>
          <p:cNvSpPr txBox="1"/>
          <p:nvPr/>
        </p:nvSpPr>
        <p:spPr>
          <a:xfrm>
            <a:off x="3110357" y="413031"/>
            <a:ext cx="5788444" cy="492443"/>
          </a:xfrm>
          <a:prstGeom prst="rect">
            <a:avLst/>
          </a:prstGeom>
          <a:noFill/>
        </p:spPr>
        <p:txBody>
          <a:bodyPr wrap="none" lIns="0" tIns="0" rIns="0" bIns="0" rtlCol="0">
            <a:spAutoFit/>
          </a:bodyPr>
          <a:lstStyle/>
          <a:p>
            <a:pPr algn="ctr">
              <a:tabLst>
                <a:tab pos="347663" algn="l"/>
              </a:tabLst>
            </a:pPr>
            <a:r>
              <a:rPr lang="en-US" sz="3200" b="1" dirty="0">
                <a:solidFill>
                  <a:srgbClr val="30353F"/>
                </a:solidFill>
                <a:latin typeface="+mj-lt"/>
              </a:rPr>
              <a:t>WHAT DATA SCIENCE TELLS US</a:t>
            </a:r>
          </a:p>
        </p:txBody>
      </p:sp>
      <p:sp>
        <p:nvSpPr>
          <p:cNvPr id="4" name="Title 3" hidden="1">
            <a:extLst>
              <a:ext uri="{FF2B5EF4-FFF2-40B4-BE49-F238E27FC236}">
                <a16:creationId xmlns:a16="http://schemas.microsoft.com/office/drawing/2014/main" id="{19D7E498-2D9B-4F60-93FF-25DEC5873336}"/>
              </a:ext>
            </a:extLst>
          </p:cNvPr>
          <p:cNvSpPr>
            <a:spLocks noGrp="1"/>
          </p:cNvSpPr>
          <p:nvPr>
            <p:ph type="title"/>
          </p:nvPr>
        </p:nvSpPr>
        <p:spPr/>
        <p:txBody>
          <a:bodyPr/>
          <a:lstStyle/>
          <a:p>
            <a:r>
              <a:rPr lang="en-US" dirty="0"/>
              <a:t>Slide 3</a:t>
            </a:r>
          </a:p>
        </p:txBody>
      </p:sp>
      <p:sp>
        <p:nvSpPr>
          <p:cNvPr id="18" name="Rectangle 17">
            <a:extLst>
              <a:ext uri="{FF2B5EF4-FFF2-40B4-BE49-F238E27FC236}">
                <a16:creationId xmlns:a16="http://schemas.microsoft.com/office/drawing/2014/main" id="{EE66524E-60BD-3DB2-8275-8C8D96DF6605}"/>
              </a:ext>
              <a:ext uri="{C183D7F6-B498-43B3-948B-1728B52AA6E4}">
                <adec:decorative xmlns:adec="http://schemas.microsoft.com/office/drawing/2017/decorative" val="1"/>
              </a:ext>
            </a:extLst>
          </p:cNvPr>
          <p:cNvSpPr/>
          <p:nvPr/>
        </p:nvSpPr>
        <p:spPr>
          <a:xfrm>
            <a:off x="2760288" y="1728365"/>
            <a:ext cx="7164762" cy="1301647"/>
          </a:xfrm>
          <a:prstGeom prst="rect">
            <a:avLst/>
          </a:prstGeom>
          <a:gradFill flip="none" rotWithShape="1">
            <a:gsLst>
              <a:gs pos="100000">
                <a:schemeClr val="bg1"/>
              </a:gs>
              <a:gs pos="54000">
                <a:srgbClr val="515A6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DF380668-E9C0-36AF-CF3A-725A36B47E7F}"/>
              </a:ext>
              <a:ext uri="{C183D7F6-B498-43B3-948B-1728B52AA6E4}">
                <adec:decorative xmlns:adec="http://schemas.microsoft.com/office/drawing/2017/decorative" val="1"/>
              </a:ext>
            </a:extLst>
          </p:cNvPr>
          <p:cNvSpPr/>
          <p:nvPr/>
        </p:nvSpPr>
        <p:spPr>
          <a:xfrm>
            <a:off x="2083897" y="1728365"/>
            <a:ext cx="1352782" cy="1301647"/>
          </a:xfrm>
          <a:prstGeom prst="ellipse">
            <a:avLst/>
          </a:prstGeom>
          <a:solidFill>
            <a:srgbClr val="30353F"/>
          </a:soli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FC017D53-4D42-D836-35F6-665E64833584}"/>
              </a:ext>
            </a:extLst>
          </p:cNvPr>
          <p:cNvSpPr txBox="1"/>
          <p:nvPr/>
        </p:nvSpPr>
        <p:spPr>
          <a:xfrm>
            <a:off x="1938210" y="2071411"/>
            <a:ext cx="8169893" cy="615553"/>
          </a:xfrm>
          <a:prstGeom prst="rect">
            <a:avLst/>
          </a:prstGeom>
          <a:noFill/>
        </p:spPr>
        <p:txBody>
          <a:bodyPr wrap="square" lIns="0" tIns="0" rIns="0" bIns="0" rtlCol="0">
            <a:spAutoFit/>
          </a:bodyPr>
          <a:lstStyle/>
          <a:p>
            <a:pPr algn="ctr"/>
            <a:r>
              <a:rPr lang="en-US" sz="4000" dirty="0">
                <a:solidFill>
                  <a:schemeClr val="bg1"/>
                </a:solidFill>
              </a:rPr>
              <a:t>Market Globally</a:t>
            </a:r>
          </a:p>
        </p:txBody>
      </p:sp>
      <p:sp>
        <p:nvSpPr>
          <p:cNvPr id="28" name="Rectangle 27">
            <a:extLst>
              <a:ext uri="{FF2B5EF4-FFF2-40B4-BE49-F238E27FC236}">
                <a16:creationId xmlns:a16="http://schemas.microsoft.com/office/drawing/2014/main" id="{00FE6DA2-491D-42DB-8311-5E961F341745}"/>
              </a:ext>
            </a:extLst>
          </p:cNvPr>
          <p:cNvSpPr/>
          <p:nvPr/>
        </p:nvSpPr>
        <p:spPr>
          <a:xfrm>
            <a:off x="2867025" y="3341406"/>
            <a:ext cx="7058025" cy="1306793"/>
          </a:xfrm>
          <a:prstGeom prst="rect">
            <a:avLst/>
          </a:prstGeom>
          <a:gradFill flip="none" rotWithShape="1">
            <a:gsLst>
              <a:gs pos="100000">
                <a:schemeClr val="bg1"/>
              </a:gs>
              <a:gs pos="54000">
                <a:srgbClr val="DBDBD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5745947D-634F-EBA3-67E0-0B8A71823EE0}"/>
              </a:ext>
            </a:extLst>
          </p:cNvPr>
          <p:cNvSpPr txBox="1"/>
          <p:nvPr/>
        </p:nvSpPr>
        <p:spPr>
          <a:xfrm>
            <a:off x="3663389" y="3670846"/>
            <a:ext cx="5053723" cy="615553"/>
          </a:xfrm>
          <a:prstGeom prst="rect">
            <a:avLst/>
          </a:prstGeom>
          <a:noFill/>
        </p:spPr>
        <p:txBody>
          <a:bodyPr wrap="square" lIns="0" tIns="0" rIns="0" bIns="0" rtlCol="0">
            <a:spAutoFit/>
          </a:bodyPr>
          <a:lstStyle/>
          <a:p>
            <a:pPr algn="ctr"/>
            <a:r>
              <a:rPr lang="en-US" sz="4000" dirty="0"/>
              <a:t>Execution Matters</a:t>
            </a:r>
          </a:p>
        </p:txBody>
      </p:sp>
      <p:sp>
        <p:nvSpPr>
          <p:cNvPr id="30" name="Oval 29">
            <a:extLst>
              <a:ext uri="{FF2B5EF4-FFF2-40B4-BE49-F238E27FC236}">
                <a16:creationId xmlns:a16="http://schemas.microsoft.com/office/drawing/2014/main" id="{1EA8C91F-84E5-0C26-8B61-C7662AA6CDCC}"/>
              </a:ext>
            </a:extLst>
          </p:cNvPr>
          <p:cNvSpPr/>
          <p:nvPr/>
        </p:nvSpPr>
        <p:spPr>
          <a:xfrm>
            <a:off x="2083897" y="3325225"/>
            <a:ext cx="1352781" cy="1306793"/>
          </a:xfrm>
          <a:prstGeom prst="ellipse">
            <a:avLst/>
          </a:prstGeom>
          <a:solidFill>
            <a:srgbClr val="CFCFCF"/>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ACDDC2D5-1633-9748-7D0B-29A91E583BB1}"/>
              </a:ext>
            </a:extLst>
          </p:cNvPr>
          <p:cNvSpPr/>
          <p:nvPr/>
        </p:nvSpPr>
        <p:spPr>
          <a:xfrm>
            <a:off x="2872710" y="4977639"/>
            <a:ext cx="7058025" cy="1306793"/>
          </a:xfrm>
          <a:prstGeom prst="rect">
            <a:avLst/>
          </a:prstGeom>
          <a:gradFill flip="none" rotWithShape="1">
            <a:gsLst>
              <a:gs pos="100000">
                <a:schemeClr val="bg1"/>
              </a:gs>
              <a:gs pos="54000">
                <a:srgbClr val="85E0E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Oval 33">
            <a:extLst>
              <a:ext uri="{FF2B5EF4-FFF2-40B4-BE49-F238E27FC236}">
                <a16:creationId xmlns:a16="http://schemas.microsoft.com/office/drawing/2014/main" id="{3A4F592B-509A-BCB3-EBCC-069FCE7BC78A}"/>
              </a:ext>
            </a:extLst>
          </p:cNvPr>
          <p:cNvSpPr/>
          <p:nvPr/>
        </p:nvSpPr>
        <p:spPr>
          <a:xfrm>
            <a:off x="2083897" y="4977637"/>
            <a:ext cx="1352781" cy="1306793"/>
          </a:xfrm>
          <a:prstGeom prst="ellipse">
            <a:avLst/>
          </a:prstGeom>
          <a:solidFill>
            <a:srgbClr val="43CDD9"/>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4DF7098A-3AD4-516D-8939-38F0E4D48D62}"/>
              </a:ext>
            </a:extLst>
          </p:cNvPr>
          <p:cNvSpPr txBox="1"/>
          <p:nvPr/>
        </p:nvSpPr>
        <p:spPr>
          <a:xfrm>
            <a:off x="3792899" y="5323258"/>
            <a:ext cx="5737788" cy="615553"/>
          </a:xfrm>
          <a:prstGeom prst="rect">
            <a:avLst/>
          </a:prstGeom>
          <a:noFill/>
        </p:spPr>
        <p:txBody>
          <a:bodyPr wrap="square" lIns="0" tIns="0" rIns="0" bIns="0" rtlCol="0">
            <a:spAutoFit/>
          </a:bodyPr>
          <a:lstStyle/>
          <a:p>
            <a:pPr algn="ctr"/>
            <a:r>
              <a:rPr lang="en-US" sz="4000" dirty="0"/>
              <a:t>Theme Lands </a:t>
            </a:r>
            <a:r>
              <a:rPr lang="en-US" sz="4000" b="1" dirty="0"/>
              <a:t>&gt;</a:t>
            </a:r>
            <a:r>
              <a:rPr lang="en-US" sz="4000" dirty="0"/>
              <a:t> Thrill Rides</a:t>
            </a:r>
          </a:p>
        </p:txBody>
      </p:sp>
      <p:pic>
        <p:nvPicPr>
          <p:cNvPr id="3" name="Picture 2">
            <a:extLst>
              <a:ext uri="{FF2B5EF4-FFF2-40B4-BE49-F238E27FC236}">
                <a16:creationId xmlns:a16="http://schemas.microsoft.com/office/drawing/2014/main" id="{B1D30A8F-615A-BBCE-DB30-8CAD707F56A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96319" y="1802640"/>
            <a:ext cx="1131105" cy="1131105"/>
          </a:xfrm>
          <a:prstGeom prst="rect">
            <a:avLst/>
          </a:prstGeom>
        </p:spPr>
      </p:pic>
      <p:pic>
        <p:nvPicPr>
          <p:cNvPr id="1026" name="Picture 2" descr="Check out this transparent DuckTales Scrooge McDuck diving ...">
            <a:extLst>
              <a:ext uri="{FF2B5EF4-FFF2-40B4-BE49-F238E27FC236}">
                <a16:creationId xmlns:a16="http://schemas.microsoft.com/office/drawing/2014/main" id="{C73C9303-F894-C8E4-B8CB-27D6642A9E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60803" y="3639498"/>
            <a:ext cx="995229" cy="6468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84BE971-500D-F61C-68D2-75EF276FCE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02373" y="5094195"/>
            <a:ext cx="2791558" cy="1073676"/>
          </a:xfrm>
          <a:prstGeom prst="rect">
            <a:avLst/>
          </a:prstGeom>
        </p:spPr>
      </p:pic>
    </p:spTree>
    <p:extLst>
      <p:ext uri="{BB962C8B-B14F-4D97-AF65-F5344CB8AC3E}">
        <p14:creationId xmlns:p14="http://schemas.microsoft.com/office/powerpoint/2010/main" val="3042603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up of a person's face&#10;&#10;Description automatically generated with low confidence">
            <a:extLst>
              <a:ext uri="{FF2B5EF4-FFF2-40B4-BE49-F238E27FC236}">
                <a16:creationId xmlns:a16="http://schemas.microsoft.com/office/drawing/2014/main" id="{618CACC1-1BFF-9CA2-D4BB-F2074B7A74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2"/>
            <a:ext cx="12192001" cy="6858002"/>
          </a:xfrm>
          <a:prstGeom prst="rect">
            <a:avLst/>
          </a:prstGeom>
        </p:spPr>
      </p:pic>
      <p:sp>
        <p:nvSpPr>
          <p:cNvPr id="6" name="Oval 5">
            <a:extLst>
              <a:ext uri="{FF2B5EF4-FFF2-40B4-BE49-F238E27FC236}">
                <a16:creationId xmlns:a16="http://schemas.microsoft.com/office/drawing/2014/main" id="{F36BA219-D2A6-D9EA-5ED8-6FE7795FBAAD}"/>
              </a:ext>
              <a:ext uri="{C183D7F6-B498-43B3-948B-1728B52AA6E4}">
                <adec:decorative xmlns:adec="http://schemas.microsoft.com/office/drawing/2017/decorative" val="1"/>
              </a:ext>
            </a:extLst>
          </p:cNvPr>
          <p:cNvSpPr/>
          <p:nvPr/>
        </p:nvSpPr>
        <p:spPr>
          <a:xfrm>
            <a:off x="3879010" y="1212017"/>
            <a:ext cx="4433981" cy="4433966"/>
          </a:xfrm>
          <a:prstGeom prst="ellipse">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nvGrpSpPr>
          <p:cNvPr id="7" name="Group 6">
            <a:extLst>
              <a:ext uri="{FF2B5EF4-FFF2-40B4-BE49-F238E27FC236}">
                <a16:creationId xmlns:a16="http://schemas.microsoft.com/office/drawing/2014/main" id="{21F7007F-F355-6569-B70B-FC536D932288}"/>
              </a:ext>
              <a:ext uri="{C183D7F6-B498-43B3-948B-1728B52AA6E4}">
                <adec:decorative xmlns:adec="http://schemas.microsoft.com/office/drawing/2017/decorative" val="1"/>
              </a:ext>
            </a:extLst>
          </p:cNvPr>
          <p:cNvGrpSpPr/>
          <p:nvPr/>
        </p:nvGrpSpPr>
        <p:grpSpPr>
          <a:xfrm>
            <a:off x="2757714" y="1626921"/>
            <a:ext cx="6676572" cy="3604160"/>
            <a:chOff x="2162629" y="1305681"/>
            <a:chExt cx="7866742" cy="4246640"/>
          </a:xfrm>
        </p:grpSpPr>
        <p:sp>
          <p:nvSpPr>
            <p:cNvPr id="8" name="Oval 7">
              <a:extLst>
                <a:ext uri="{FF2B5EF4-FFF2-40B4-BE49-F238E27FC236}">
                  <a16:creationId xmlns:a16="http://schemas.microsoft.com/office/drawing/2014/main" id="{8A5FAED3-3952-B80C-84ED-1D7A776628BA}"/>
                </a:ext>
              </a:extLst>
            </p:cNvPr>
            <p:cNvSpPr/>
            <p:nvPr/>
          </p:nvSpPr>
          <p:spPr>
            <a:xfrm>
              <a:off x="5782715" y="1305681"/>
              <a:ext cx="4246656" cy="4246640"/>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CA422D2A-2FC4-6851-FAE1-618575BFF1CC}"/>
                </a:ext>
              </a:extLst>
            </p:cNvPr>
            <p:cNvSpPr/>
            <p:nvPr/>
          </p:nvSpPr>
          <p:spPr>
            <a:xfrm>
              <a:off x="2162629" y="1305681"/>
              <a:ext cx="4246656" cy="4246640"/>
            </a:xfrm>
            <a:prstGeom prst="ellipse">
              <a:avLst/>
            </a:prstGeom>
            <a:solidFill>
              <a:srgbClr val="43CDD9">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Oval 9">
            <a:extLst>
              <a:ext uri="{FF2B5EF4-FFF2-40B4-BE49-F238E27FC236}">
                <a16:creationId xmlns:a16="http://schemas.microsoft.com/office/drawing/2014/main" id="{7094585F-54B9-30B5-79A3-1A8E083EF3F9}"/>
              </a:ext>
              <a:ext uri="{C183D7F6-B498-43B3-948B-1728B52AA6E4}">
                <adec:decorative xmlns:adec="http://schemas.microsoft.com/office/drawing/2017/decorative" val="1"/>
              </a:ext>
            </a:extLst>
          </p:cNvPr>
          <p:cNvSpPr/>
          <p:nvPr/>
        </p:nvSpPr>
        <p:spPr>
          <a:xfrm>
            <a:off x="3456507" y="789512"/>
            <a:ext cx="5278993" cy="5278976"/>
          </a:xfrm>
          <a:prstGeom prst="ellipse">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1" name="TextBox 10">
            <a:extLst>
              <a:ext uri="{FF2B5EF4-FFF2-40B4-BE49-F238E27FC236}">
                <a16:creationId xmlns:a16="http://schemas.microsoft.com/office/drawing/2014/main" id="{88302F17-2BCE-7A0B-2AEC-9FAD942BB8D8}"/>
              </a:ext>
            </a:extLst>
          </p:cNvPr>
          <p:cNvSpPr txBox="1"/>
          <p:nvPr/>
        </p:nvSpPr>
        <p:spPr>
          <a:xfrm>
            <a:off x="4379184" y="3059668"/>
            <a:ext cx="3433632" cy="738664"/>
          </a:xfrm>
          <a:prstGeom prst="rect">
            <a:avLst/>
          </a:prstGeom>
          <a:noFill/>
        </p:spPr>
        <p:txBody>
          <a:bodyPr wrap="none" lIns="0" tIns="0" rIns="0" bIns="0" rtlCol="0">
            <a:spAutoFit/>
          </a:bodyPr>
          <a:lstStyle/>
          <a:p>
            <a:pPr algn="ctr">
              <a:tabLst>
                <a:tab pos="347663" algn="l"/>
              </a:tabLst>
            </a:pPr>
            <a:r>
              <a:rPr lang="en-US" sz="4800" b="1" dirty="0">
                <a:solidFill>
                  <a:srgbClr val="FFFFFF"/>
                </a:solidFill>
                <a:latin typeface="+mj-lt"/>
              </a:rPr>
              <a:t>THANK YOU</a:t>
            </a:r>
          </a:p>
        </p:txBody>
      </p:sp>
    </p:spTree>
    <p:extLst>
      <p:ext uri="{BB962C8B-B14F-4D97-AF65-F5344CB8AC3E}">
        <p14:creationId xmlns:p14="http://schemas.microsoft.com/office/powerpoint/2010/main" val="2894530775"/>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Modern 01">
      <a:majorFont>
        <a:latin typeface="Century Gothic"/>
        <a:ea typeface=""/>
        <a:cs typeface=""/>
      </a:majorFont>
      <a:minorFont>
        <a:latin typeface="Segoe U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crosoft_Data_Driven_Financial_Corporate.potx" id="{AF0BB5A1-6D8A-4FE6-8E42-5BDD7830AEFF}" vid="{0057B11C-41A7-4209-873B-0AFB0F6811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Data-driven PowerPoint, from 24Slides</Template>
  <TotalTime>935</TotalTime>
  <Words>503</Words>
  <Application>Microsoft Office PowerPoint</Application>
  <PresentationFormat>Widescreen</PresentationFormat>
  <Paragraphs>53</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Century Gothic</vt:lpstr>
      <vt:lpstr>Segoe UI Light</vt:lpstr>
      <vt:lpstr>Office Theme</vt:lpstr>
      <vt:lpstr>PowerPoint Presentation</vt:lpstr>
      <vt:lpstr>Slide 3</vt:lpstr>
      <vt:lpstr>Slide 2</vt:lpstr>
      <vt:lpstr>Slide 2</vt:lpstr>
      <vt:lpstr>Slide 2</vt:lpstr>
      <vt:lpstr>Slide 2</vt:lpstr>
      <vt:lpstr>Slide 4</vt:lpstr>
      <vt:lpstr>Slide 10</vt:lpstr>
      <vt:lpstr>Slide 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Denise Salgado-Gouker</dc:creator>
  <cp:lastModifiedBy>kyle.salgado.gouker@gmail.com</cp:lastModifiedBy>
  <cp:revision>34</cp:revision>
  <dcterms:created xsi:type="dcterms:W3CDTF">2022-10-29T17:53:13Z</dcterms:created>
  <dcterms:modified xsi:type="dcterms:W3CDTF">2022-10-30T18:05:03Z</dcterms:modified>
</cp:coreProperties>
</file>