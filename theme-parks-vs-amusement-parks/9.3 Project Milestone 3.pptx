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272" r:id="rId2"/>
    <p:sldId id="274" r:id="rId3"/>
    <p:sldId id="278" r:id="rId4"/>
    <p:sldId id="275" r:id="rId5"/>
    <p:sldId id="277" r:id="rId6"/>
    <p:sldId id="280" r:id="rId7"/>
    <p:sldId id="259" r:id="rId8"/>
    <p:sldId id="267" r:id="rId9"/>
    <p:sldId id="279" r:id="rId10"/>
    <p:sldId id="27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40" userDrawn="1">
          <p15:clr>
            <a:srgbClr val="A4A3A4"/>
          </p15:clr>
        </p15:guide>
        <p15:guide id="6" orient="horz" pos="144" userDrawn="1">
          <p15:clr>
            <a:srgbClr val="A4A3A4"/>
          </p15:clr>
        </p15:guide>
        <p15:guide id="7" orient="horz" pos="4104" userDrawn="1">
          <p15:clr>
            <a:srgbClr val="A4A3A4"/>
          </p15:clr>
        </p15:guide>
        <p15:guide id="8" pos="7440" userDrawn="1">
          <p15:clr>
            <a:srgbClr val="A4A3A4"/>
          </p15:clr>
        </p15:guide>
        <p15:guide id="13" orient="horz" pos="1512" userDrawn="1">
          <p15:clr>
            <a:srgbClr val="A4A3A4"/>
          </p15:clr>
        </p15:guide>
        <p15:guide id="17" orient="horz" pos="2376" userDrawn="1">
          <p15:clr>
            <a:srgbClr val="A4A3A4"/>
          </p15:clr>
        </p15:guide>
        <p15:guide id="18" pos="4824" userDrawn="1">
          <p15:clr>
            <a:srgbClr val="A4A3A4"/>
          </p15:clr>
        </p15:guide>
        <p15:guide id="20" pos="2016" userDrawn="1">
          <p15:clr>
            <a:srgbClr val="A4A3A4"/>
          </p15:clr>
        </p15:guide>
        <p15:guide id="21" orient="horz" pos="1680" userDrawn="1">
          <p15:clr>
            <a:srgbClr val="A4A3A4"/>
          </p15:clr>
        </p15:guide>
        <p15:guide id="22" orient="horz" pos="1008" userDrawn="1">
          <p15:clr>
            <a:srgbClr val="A4A3A4"/>
          </p15:clr>
        </p15:guide>
        <p15:guide id="23" pos="408" userDrawn="1">
          <p15:clr>
            <a:srgbClr val="A4A3A4"/>
          </p15:clr>
        </p15:guide>
        <p15:guide id="24" orient="horz" pos="792" userDrawn="1">
          <p15:clr>
            <a:srgbClr val="A4A3A4"/>
          </p15:clr>
        </p15:guide>
        <p15:guide id="25" orient="horz" pos="2760" userDrawn="1">
          <p15:clr>
            <a:srgbClr val="A4A3A4"/>
          </p15:clr>
        </p15:guide>
        <p15:guide id="26" orient="horz" pos="3024" userDrawn="1">
          <p15:clr>
            <a:srgbClr val="A4A3A4"/>
          </p15:clr>
        </p15:guide>
        <p15:guide id="27" pos="3840" userDrawn="1">
          <p15:clr>
            <a:srgbClr val="A4A3A4"/>
          </p15:clr>
        </p15:guide>
        <p15:guide id="28" orient="horz" pos="22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EAEC"/>
    <a:srgbClr val="DBDBDB"/>
    <a:srgbClr val="DCF0F2"/>
    <a:srgbClr val="43CDD9"/>
    <a:srgbClr val="85E0E7"/>
    <a:srgbClr val="E0ECEE"/>
    <a:srgbClr val="30353F"/>
    <a:srgbClr val="667181"/>
    <a:srgbClr val="BABABA"/>
    <a:srgbClr val="515A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52" autoAdjust="0"/>
  </p:normalViewPr>
  <p:slideViewPr>
    <p:cSldViewPr snapToGrid="0" showGuides="1">
      <p:cViewPr varScale="1">
        <p:scale>
          <a:sx n="87" d="100"/>
          <a:sy n="87" d="100"/>
        </p:scale>
        <p:origin x="302" y="46"/>
      </p:cViewPr>
      <p:guideLst>
        <p:guide pos="240"/>
        <p:guide orient="horz" pos="144"/>
        <p:guide orient="horz" pos="4104"/>
        <p:guide pos="7440"/>
        <p:guide orient="horz" pos="1512"/>
        <p:guide orient="horz" pos="2376"/>
        <p:guide pos="4824"/>
        <p:guide pos="2016"/>
        <p:guide orient="horz" pos="1680"/>
        <p:guide orient="horz" pos="1008"/>
        <p:guide pos="408"/>
        <p:guide orient="horz" pos="792"/>
        <p:guide orient="horz" pos="2760"/>
        <p:guide orient="horz" pos="3024"/>
        <p:guide pos="3840"/>
        <p:guide orient="horz" pos="22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1C655F-54C7-4D03-AD26-E0C40F01563A}" type="datetimeFigureOut">
              <a:rPr lang="id-ID" smtClean="0"/>
              <a:t>30/10/2022</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D34AC2-3728-4A8B-B58F-6888FAEC3D20}" type="slidenum">
              <a:rPr lang="id-ID" smtClean="0"/>
              <a:t>‹#›</a:t>
            </a:fld>
            <a:endParaRPr lang="id-ID"/>
          </a:p>
        </p:txBody>
      </p:sp>
    </p:spTree>
    <p:extLst>
      <p:ext uri="{BB962C8B-B14F-4D97-AF65-F5344CB8AC3E}">
        <p14:creationId xmlns:p14="http://schemas.microsoft.com/office/powerpoint/2010/main" val="1086178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635058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3302397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662068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034835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645618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432641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753328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3B832CC-E04A-47A7-966D-475AEA6409AB}"/>
              </a:ext>
            </a:extLst>
          </p:cNvPr>
          <p:cNvSpPr>
            <a:spLocks noGrp="1"/>
          </p:cNvSpPr>
          <p:nvPr>
            <p:ph type="pic" sz="quarter" idx="13"/>
          </p:nvPr>
        </p:nvSpPr>
        <p:spPr>
          <a:xfrm>
            <a:off x="4689139"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a:t>Click icon to add picture</a:t>
            </a:r>
            <a:endParaRPr lang="en-US" dirty="0"/>
          </a:p>
        </p:txBody>
      </p:sp>
      <p:sp>
        <p:nvSpPr>
          <p:cNvPr id="2" name="Date Placeholder 1"/>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28E537-E56B-49CA-B596-52598082FBE8}" type="slidenum">
              <a:rPr lang="en-US" smtClean="0"/>
              <a:t>‹#›</a:t>
            </a:fld>
            <a:endParaRPr lang="en-US" dirty="0"/>
          </a:p>
        </p:txBody>
      </p:sp>
      <p:sp>
        <p:nvSpPr>
          <p:cNvPr id="6" name="Freeform: Shape 7">
            <a:extLst>
              <a:ext uri="{FF2B5EF4-FFF2-40B4-BE49-F238E27FC236}">
                <a16:creationId xmlns:a16="http://schemas.microsoft.com/office/drawing/2014/main" id="{23B832CC-E04A-47A7-966D-475AEA6409AB}"/>
              </a:ext>
            </a:extLst>
          </p:cNvPr>
          <p:cNvSpPr>
            <a:spLocks noGrp="1"/>
          </p:cNvSpPr>
          <p:nvPr>
            <p:ph type="pic" sz="quarter" idx="14"/>
          </p:nvPr>
        </p:nvSpPr>
        <p:spPr>
          <a:xfrm>
            <a:off x="1125882"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a:t>Click icon to add picture</a:t>
            </a:r>
            <a:endParaRPr lang="en-US" dirty="0"/>
          </a:p>
        </p:txBody>
      </p:sp>
      <p:sp>
        <p:nvSpPr>
          <p:cNvPr id="7" name="Freeform: Shape 7">
            <a:extLst>
              <a:ext uri="{FF2B5EF4-FFF2-40B4-BE49-F238E27FC236}">
                <a16:creationId xmlns:a16="http://schemas.microsoft.com/office/drawing/2014/main" id="{23B832CC-E04A-47A7-966D-475AEA6409AB}"/>
              </a:ext>
            </a:extLst>
          </p:cNvPr>
          <p:cNvSpPr>
            <a:spLocks noGrp="1"/>
          </p:cNvSpPr>
          <p:nvPr>
            <p:ph type="pic" sz="quarter" idx="15"/>
          </p:nvPr>
        </p:nvSpPr>
        <p:spPr>
          <a:xfrm>
            <a:off x="8252396"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1596995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4001594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77954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439420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3032131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96FE2-9E77-4834-9C6B-212E1056298F}" type="datetimeFigureOut">
              <a:rPr lang="en-US" smtClean="0"/>
              <a:t>10/30/2022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28E537-E56B-49CA-B596-52598082FBE8}" type="slidenum">
              <a:rPr lang="en-US" smtClean="0"/>
              <a:t>‹#›</a:t>
            </a:fld>
            <a:endParaRPr lang="en-US" dirty="0"/>
          </a:p>
        </p:txBody>
      </p:sp>
    </p:spTree>
    <p:extLst>
      <p:ext uri="{BB962C8B-B14F-4D97-AF65-F5344CB8AC3E}">
        <p14:creationId xmlns:p14="http://schemas.microsoft.com/office/powerpoint/2010/main" val="28447593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4" r:id="rId8"/>
    <p:sldLayoutId id="2147483680" r:id="rId9"/>
    <p:sldLayoutId id="2147483681" r:id="rId10"/>
    <p:sldLayoutId id="2147483682"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gif"/></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jpeg"/><Relationship Id="rId1" Type="http://schemas.openxmlformats.org/officeDocument/2006/relationships/slideLayout" Target="../slideLayouts/slideLayout6.xml"/><Relationship Id="rId6" Type="http://schemas.openxmlformats.org/officeDocument/2006/relationships/image" Target="../media/image20.gif"/><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gif"/><Relationship Id="rId1" Type="http://schemas.openxmlformats.org/officeDocument/2006/relationships/slideLayout" Target="../slideLayouts/slideLayout6.xml"/><Relationship Id="rId4" Type="http://schemas.openxmlformats.org/officeDocument/2006/relationships/image" Target="../media/image26.gif"/></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355F7AF-6F54-7CF4-4258-CB98B57BCEF4}"/>
              </a:ext>
            </a:extLst>
          </p:cNvPr>
          <p:cNvSpPr txBox="1"/>
          <p:nvPr/>
        </p:nvSpPr>
        <p:spPr>
          <a:xfrm>
            <a:off x="4214876" y="3444079"/>
            <a:ext cx="3762247" cy="677108"/>
          </a:xfrm>
          <a:prstGeom prst="rect">
            <a:avLst/>
          </a:prstGeom>
          <a:noFill/>
        </p:spPr>
        <p:txBody>
          <a:bodyPr wrap="none" lIns="0" tIns="0" rIns="0" bIns="0" rtlCol="0">
            <a:spAutoFit/>
          </a:bodyPr>
          <a:lstStyle/>
          <a:p>
            <a:pPr algn="ctr">
              <a:tabLst>
                <a:tab pos="347663" algn="l"/>
              </a:tabLst>
            </a:pPr>
            <a:r>
              <a:rPr lang="en-US" sz="4400" b="1" dirty="0">
                <a:solidFill>
                  <a:schemeClr val="bg1"/>
                </a:solidFill>
                <a:latin typeface="+mj-lt"/>
              </a:rPr>
              <a:t>DATA DRIVEN </a:t>
            </a:r>
          </a:p>
        </p:txBody>
      </p:sp>
      <p:sp>
        <p:nvSpPr>
          <p:cNvPr id="12" name="Oval 11">
            <a:extLst>
              <a:ext uri="{FF2B5EF4-FFF2-40B4-BE49-F238E27FC236}">
                <a16:creationId xmlns:a16="http://schemas.microsoft.com/office/drawing/2014/main" id="{1F80DB11-FA8B-4887-C0F2-A67C383EDB48}"/>
              </a:ext>
              <a:ext uri="{C183D7F6-B498-43B3-948B-1728B52AA6E4}">
                <adec:decorative xmlns:adec="http://schemas.microsoft.com/office/drawing/2017/decorative" val="1"/>
              </a:ext>
            </a:extLst>
          </p:cNvPr>
          <p:cNvSpPr/>
          <p:nvPr/>
        </p:nvSpPr>
        <p:spPr>
          <a:xfrm>
            <a:off x="1328310" y="834129"/>
            <a:ext cx="1185628" cy="1171575"/>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TextBox 14">
            <a:extLst>
              <a:ext uri="{FF2B5EF4-FFF2-40B4-BE49-F238E27FC236}">
                <a16:creationId xmlns:a16="http://schemas.microsoft.com/office/drawing/2014/main" id="{B67113FF-EABF-4433-18FC-EBC2E3EC8B90}"/>
              </a:ext>
            </a:extLst>
          </p:cNvPr>
          <p:cNvSpPr txBox="1"/>
          <p:nvPr/>
        </p:nvSpPr>
        <p:spPr>
          <a:xfrm>
            <a:off x="2760939" y="2969462"/>
            <a:ext cx="7837082" cy="1354217"/>
          </a:xfrm>
          <a:prstGeom prst="rect">
            <a:avLst/>
          </a:prstGeom>
          <a:noFill/>
        </p:spPr>
        <p:txBody>
          <a:bodyPr wrap="none" lIns="0" tIns="0" rIns="0" bIns="0" rtlCol="0">
            <a:spAutoFit/>
          </a:bodyPr>
          <a:lstStyle/>
          <a:p>
            <a:pPr algn="ctr">
              <a:tabLst>
                <a:tab pos="347663" algn="l"/>
              </a:tabLst>
            </a:pPr>
            <a:r>
              <a:rPr lang="en-US" sz="4400" b="1" dirty="0">
                <a:solidFill>
                  <a:schemeClr val="bg1"/>
                </a:solidFill>
                <a:latin typeface="+mj-lt"/>
              </a:rPr>
              <a:t>DATA DRIVEN</a:t>
            </a:r>
          </a:p>
          <a:p>
            <a:pPr algn="ctr">
              <a:tabLst>
                <a:tab pos="347663" algn="l"/>
              </a:tabLst>
            </a:pPr>
            <a:r>
              <a:rPr lang="en-US" sz="4400" b="1" dirty="0">
                <a:solidFill>
                  <a:schemeClr val="bg1"/>
                </a:solidFill>
                <a:latin typeface="+mj-lt"/>
              </a:rPr>
              <a:t>POPULARITY OF THEME PARKS</a:t>
            </a:r>
          </a:p>
        </p:txBody>
      </p:sp>
      <p:pic>
        <p:nvPicPr>
          <p:cNvPr id="17" name="Picture 16" descr="A close-up of a person's face&#10;&#10;Description automatically generated with low confidence">
            <a:extLst>
              <a:ext uri="{FF2B5EF4-FFF2-40B4-BE49-F238E27FC236}">
                <a16:creationId xmlns:a16="http://schemas.microsoft.com/office/drawing/2014/main" id="{C78C001F-F863-37B6-2AFB-6E6BD9DD5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12192001" cy="6858002"/>
          </a:xfrm>
          <a:prstGeom prst="rect">
            <a:avLst/>
          </a:prstGeom>
        </p:spPr>
      </p:pic>
      <p:sp>
        <p:nvSpPr>
          <p:cNvPr id="18" name="Oval 17">
            <a:extLst>
              <a:ext uri="{FF2B5EF4-FFF2-40B4-BE49-F238E27FC236}">
                <a16:creationId xmlns:a16="http://schemas.microsoft.com/office/drawing/2014/main" id="{B4C05B78-6302-A517-03D2-A321E9B8EC98}"/>
              </a:ext>
              <a:ext uri="{C183D7F6-B498-43B3-948B-1728B52AA6E4}">
                <adec:decorative xmlns:adec="http://schemas.microsoft.com/office/drawing/2017/decorative" val="1"/>
              </a:ext>
            </a:extLst>
          </p:cNvPr>
          <p:cNvSpPr>
            <a:spLocks/>
          </p:cNvSpPr>
          <p:nvPr/>
        </p:nvSpPr>
        <p:spPr>
          <a:xfrm>
            <a:off x="5331067" y="1418323"/>
            <a:ext cx="1463040" cy="1463040"/>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Oval 18">
            <a:extLst>
              <a:ext uri="{FF2B5EF4-FFF2-40B4-BE49-F238E27FC236}">
                <a16:creationId xmlns:a16="http://schemas.microsoft.com/office/drawing/2014/main" id="{18A3E5EE-2026-CE30-BF14-DFCF0D1F4013}"/>
              </a:ext>
              <a:ext uri="{C183D7F6-B498-43B3-948B-1728B52AA6E4}">
                <adec:decorative xmlns:adec="http://schemas.microsoft.com/office/drawing/2017/decorative" val="1"/>
              </a:ext>
            </a:extLst>
          </p:cNvPr>
          <p:cNvSpPr/>
          <p:nvPr/>
        </p:nvSpPr>
        <p:spPr>
          <a:xfrm>
            <a:off x="5083534" y="1602015"/>
            <a:ext cx="1188720" cy="118872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EF89D045-B097-3AD8-865A-BC494BCD8686}"/>
              </a:ext>
              <a:ext uri="{C183D7F6-B498-43B3-948B-1728B52AA6E4}">
                <adec:decorative xmlns:adec="http://schemas.microsoft.com/office/drawing/2017/decorative" val="1"/>
              </a:ext>
            </a:extLst>
          </p:cNvPr>
          <p:cNvSpPr/>
          <p:nvPr/>
        </p:nvSpPr>
        <p:spPr>
          <a:xfrm>
            <a:off x="5902453" y="1569360"/>
            <a:ext cx="1188720" cy="118872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F778B40F-E2CB-5D10-091C-6755B17FADAA}"/>
              </a:ext>
            </a:extLst>
          </p:cNvPr>
          <p:cNvSpPr txBox="1"/>
          <p:nvPr/>
        </p:nvSpPr>
        <p:spPr>
          <a:xfrm>
            <a:off x="2195217" y="3405979"/>
            <a:ext cx="8106386" cy="1846659"/>
          </a:xfrm>
          <a:prstGeom prst="rect">
            <a:avLst/>
          </a:prstGeom>
          <a:noFill/>
        </p:spPr>
        <p:txBody>
          <a:bodyPr wrap="none" lIns="0" tIns="0" rIns="0" bIns="0" rtlCol="0">
            <a:spAutoFit/>
          </a:bodyPr>
          <a:lstStyle/>
          <a:p>
            <a:pPr algn="ctr">
              <a:tabLst>
                <a:tab pos="347663" algn="l"/>
              </a:tabLst>
            </a:pPr>
            <a:r>
              <a:rPr lang="en-US" sz="4000" b="1" dirty="0">
                <a:solidFill>
                  <a:schemeClr val="bg1"/>
                </a:solidFill>
                <a:latin typeface="+mj-lt"/>
              </a:rPr>
              <a:t>DATA SCIENCE:</a:t>
            </a:r>
          </a:p>
          <a:p>
            <a:pPr algn="ctr">
              <a:tabLst>
                <a:tab pos="347663" algn="l"/>
              </a:tabLst>
            </a:pPr>
            <a:r>
              <a:rPr lang="en-US" sz="4000" b="1" dirty="0">
                <a:solidFill>
                  <a:schemeClr val="bg1"/>
                </a:solidFill>
                <a:latin typeface="+mj-lt"/>
              </a:rPr>
              <a:t>THE POPULARITY OF THEME PARKS</a:t>
            </a:r>
          </a:p>
          <a:p>
            <a:pPr algn="ctr">
              <a:tabLst>
                <a:tab pos="347663" algn="l"/>
              </a:tabLst>
            </a:pPr>
            <a:r>
              <a:rPr lang="en-US" sz="4000" b="1" dirty="0">
                <a:solidFill>
                  <a:schemeClr val="bg1"/>
                </a:solidFill>
                <a:latin typeface="+mj-lt"/>
              </a:rPr>
              <a:t>AND THEIR ATTRACTIONS </a:t>
            </a:r>
          </a:p>
        </p:txBody>
      </p:sp>
      <p:sp>
        <p:nvSpPr>
          <p:cNvPr id="22" name="TextBox 21">
            <a:extLst>
              <a:ext uri="{FF2B5EF4-FFF2-40B4-BE49-F238E27FC236}">
                <a16:creationId xmlns:a16="http://schemas.microsoft.com/office/drawing/2014/main" id="{ECBF8DA9-B8EB-9CF3-7DAF-D4182C1F353A}"/>
              </a:ext>
            </a:extLst>
          </p:cNvPr>
          <p:cNvSpPr txBox="1"/>
          <p:nvPr/>
        </p:nvSpPr>
        <p:spPr>
          <a:xfrm>
            <a:off x="9090401" y="5920841"/>
            <a:ext cx="2566665" cy="307777"/>
          </a:xfrm>
          <a:prstGeom prst="rect">
            <a:avLst/>
          </a:prstGeom>
          <a:noFill/>
        </p:spPr>
        <p:txBody>
          <a:bodyPr wrap="none" lIns="0" tIns="0" rIns="0" bIns="0" rtlCol="0">
            <a:spAutoFit/>
          </a:bodyPr>
          <a:lstStyle/>
          <a:p>
            <a:pPr algn="ctr">
              <a:tabLst>
                <a:tab pos="347663" algn="l"/>
              </a:tabLst>
            </a:pPr>
            <a:r>
              <a:rPr lang="en-US" sz="2000" dirty="0">
                <a:solidFill>
                  <a:schemeClr val="bg1"/>
                </a:solidFill>
              </a:rPr>
              <a:t>By Kyle Salgado-Gouker</a:t>
            </a:r>
          </a:p>
        </p:txBody>
      </p:sp>
    </p:spTree>
    <p:extLst>
      <p:ext uri="{BB962C8B-B14F-4D97-AF65-F5344CB8AC3E}">
        <p14:creationId xmlns:p14="http://schemas.microsoft.com/office/powerpoint/2010/main" val="2613726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20" name="Freeform 19">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21" name="TextBox 20"/>
          <p:cNvSpPr txBox="1"/>
          <p:nvPr/>
        </p:nvSpPr>
        <p:spPr>
          <a:xfrm>
            <a:off x="11907454" y="6481180"/>
            <a:ext cx="277640" cy="307777"/>
          </a:xfrm>
          <a:prstGeom prst="rect">
            <a:avLst/>
          </a:prstGeom>
          <a:noFill/>
        </p:spPr>
        <p:txBody>
          <a:bodyPr wrap="none" rtlCol="0">
            <a:spAutoFit/>
          </a:bodyPr>
          <a:lstStyle/>
          <a:p>
            <a:r>
              <a:rPr lang="en-US" sz="1400" b="1" dirty="0">
                <a:solidFill>
                  <a:schemeClr val="bg1"/>
                </a:solidFill>
              </a:rPr>
              <a:t>2</a:t>
            </a:r>
          </a:p>
        </p:txBody>
      </p:sp>
      <p:sp>
        <p:nvSpPr>
          <p:cNvPr id="83" name="TextBox 82">
            <a:extLst>
              <a:ext uri="{FF2B5EF4-FFF2-40B4-BE49-F238E27FC236}">
                <a16:creationId xmlns:a16="http://schemas.microsoft.com/office/drawing/2014/main" id="{DCD843C5-0DBD-4721-ACAD-288CC256EF82}"/>
              </a:ext>
            </a:extLst>
          </p:cNvPr>
          <p:cNvSpPr txBox="1"/>
          <p:nvPr/>
        </p:nvSpPr>
        <p:spPr>
          <a:xfrm>
            <a:off x="1633260" y="165381"/>
            <a:ext cx="8925520" cy="984885"/>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mj-lt"/>
              </a:rPr>
              <a:t>CAN DATA SCIENCE PREDICT THE SUCCESS OF</a:t>
            </a:r>
          </a:p>
          <a:p>
            <a:pPr algn="ctr">
              <a:tabLst>
                <a:tab pos="347663" algn="l"/>
              </a:tabLst>
            </a:pPr>
            <a:r>
              <a:rPr lang="en-US" sz="3200" b="1" dirty="0">
                <a:solidFill>
                  <a:srgbClr val="30353F"/>
                </a:solidFill>
                <a:latin typeface="+mj-lt"/>
              </a:rPr>
              <a:t>AMUSEMENT PARK ATTRACTIONS?</a:t>
            </a:r>
          </a:p>
        </p:txBody>
      </p:sp>
      <p:sp>
        <p:nvSpPr>
          <p:cNvPr id="4" name="Title 3" hidden="1">
            <a:extLst>
              <a:ext uri="{FF2B5EF4-FFF2-40B4-BE49-F238E27FC236}">
                <a16:creationId xmlns:a16="http://schemas.microsoft.com/office/drawing/2014/main" id="{19D7E498-2D9B-4F60-93FF-25DEC5873336}"/>
              </a:ext>
            </a:extLst>
          </p:cNvPr>
          <p:cNvSpPr>
            <a:spLocks noGrp="1"/>
          </p:cNvSpPr>
          <p:nvPr>
            <p:ph type="title"/>
          </p:nvPr>
        </p:nvSpPr>
        <p:spPr/>
        <p:txBody>
          <a:bodyPr/>
          <a:lstStyle/>
          <a:p>
            <a:r>
              <a:rPr lang="en-US" dirty="0"/>
              <a:t>Slide 3</a:t>
            </a:r>
          </a:p>
        </p:txBody>
      </p:sp>
      <p:sp>
        <p:nvSpPr>
          <p:cNvPr id="18" name="Rectangle 17">
            <a:extLst>
              <a:ext uri="{FF2B5EF4-FFF2-40B4-BE49-F238E27FC236}">
                <a16:creationId xmlns:a16="http://schemas.microsoft.com/office/drawing/2014/main" id="{EE66524E-60BD-3DB2-8275-8C8D96DF6605}"/>
              </a:ext>
              <a:ext uri="{C183D7F6-B498-43B3-948B-1728B52AA6E4}">
                <adec:decorative xmlns:adec="http://schemas.microsoft.com/office/drawing/2017/decorative" val="1"/>
              </a:ext>
            </a:extLst>
          </p:cNvPr>
          <p:cNvSpPr/>
          <p:nvPr/>
        </p:nvSpPr>
        <p:spPr>
          <a:xfrm>
            <a:off x="936380" y="1732564"/>
            <a:ext cx="10476531" cy="1301647"/>
          </a:xfrm>
          <a:prstGeom prst="rect">
            <a:avLst/>
          </a:prstGeom>
          <a:gradFill flip="none" rotWithShape="1">
            <a:gsLst>
              <a:gs pos="100000">
                <a:schemeClr val="bg1"/>
              </a:gs>
              <a:gs pos="54000">
                <a:srgbClr val="515A6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DF380668-E9C0-36AF-CF3A-725A36B47E7F}"/>
              </a:ext>
              <a:ext uri="{C183D7F6-B498-43B3-948B-1728B52AA6E4}">
                <adec:decorative xmlns:adec="http://schemas.microsoft.com/office/drawing/2017/decorative" val="1"/>
              </a:ext>
            </a:extLst>
          </p:cNvPr>
          <p:cNvSpPr/>
          <p:nvPr/>
        </p:nvSpPr>
        <p:spPr>
          <a:xfrm>
            <a:off x="289648" y="1728365"/>
            <a:ext cx="1352782" cy="1301647"/>
          </a:xfrm>
          <a:prstGeom prst="ellipse">
            <a:avLst/>
          </a:prstGeom>
          <a:solidFill>
            <a:srgbClr val="30353F"/>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C017D53-4D42-D836-35F6-665E64833584}"/>
              </a:ext>
            </a:extLst>
          </p:cNvPr>
          <p:cNvSpPr txBox="1"/>
          <p:nvPr/>
        </p:nvSpPr>
        <p:spPr>
          <a:xfrm>
            <a:off x="1919633" y="2014055"/>
            <a:ext cx="8169893" cy="738664"/>
          </a:xfrm>
          <a:prstGeom prst="rect">
            <a:avLst/>
          </a:prstGeom>
          <a:noFill/>
        </p:spPr>
        <p:txBody>
          <a:bodyPr wrap="square" lIns="0" tIns="0" rIns="0" bIns="0" rtlCol="0">
            <a:spAutoFit/>
          </a:bodyPr>
          <a:lstStyle/>
          <a:p>
            <a:pPr algn="ctr"/>
            <a:r>
              <a:rPr lang="en-US" sz="2400" dirty="0">
                <a:solidFill>
                  <a:schemeClr val="bg1"/>
                </a:solidFill>
              </a:rPr>
              <a:t>The amusement park industry is a large piece of the world economy’s hospitality sector and competition for guests is keen.</a:t>
            </a:r>
            <a:endParaRPr lang="en-US" sz="1400" dirty="0">
              <a:solidFill>
                <a:schemeClr val="bg1"/>
              </a:solidFill>
            </a:endParaRPr>
          </a:p>
        </p:txBody>
      </p:sp>
      <p:pic>
        <p:nvPicPr>
          <p:cNvPr id="26" name="Picture 25" descr="A picture containing mammal&#10;&#10;Description automatically generated">
            <a:extLst>
              <a:ext uri="{FF2B5EF4-FFF2-40B4-BE49-F238E27FC236}">
                <a16:creationId xmlns:a16="http://schemas.microsoft.com/office/drawing/2014/main" id="{FA69E1B2-8BC2-3AD0-912B-1596DC9666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722" y="1976712"/>
            <a:ext cx="813176" cy="785532"/>
          </a:xfrm>
          <a:prstGeom prst="rect">
            <a:avLst/>
          </a:prstGeom>
        </p:spPr>
      </p:pic>
      <p:sp>
        <p:nvSpPr>
          <p:cNvPr id="28" name="Rectangle 27">
            <a:extLst>
              <a:ext uri="{FF2B5EF4-FFF2-40B4-BE49-F238E27FC236}">
                <a16:creationId xmlns:a16="http://schemas.microsoft.com/office/drawing/2014/main" id="{00FE6DA2-491D-42DB-8311-5E961F341745}"/>
              </a:ext>
            </a:extLst>
          </p:cNvPr>
          <p:cNvSpPr/>
          <p:nvPr/>
        </p:nvSpPr>
        <p:spPr>
          <a:xfrm>
            <a:off x="1005695" y="3331881"/>
            <a:ext cx="10407216" cy="1306793"/>
          </a:xfrm>
          <a:prstGeom prst="rect">
            <a:avLst/>
          </a:prstGeom>
          <a:gradFill flip="none" rotWithShape="1">
            <a:gsLst>
              <a:gs pos="100000">
                <a:schemeClr val="bg1"/>
              </a:gs>
              <a:gs pos="54000">
                <a:srgbClr val="DBDB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5745947D-634F-EBA3-67E0-0B8A71823EE0}"/>
              </a:ext>
            </a:extLst>
          </p:cNvPr>
          <p:cNvSpPr txBox="1"/>
          <p:nvPr/>
        </p:nvSpPr>
        <p:spPr>
          <a:xfrm>
            <a:off x="1710634" y="3390312"/>
            <a:ext cx="8848146" cy="1107996"/>
          </a:xfrm>
          <a:prstGeom prst="rect">
            <a:avLst/>
          </a:prstGeom>
          <a:noFill/>
        </p:spPr>
        <p:txBody>
          <a:bodyPr wrap="square" lIns="0" tIns="0" rIns="0" bIns="0" rtlCol="0">
            <a:spAutoFit/>
          </a:bodyPr>
          <a:lstStyle/>
          <a:p>
            <a:pPr algn="ctr"/>
            <a:r>
              <a:rPr lang="en-US" sz="2400" dirty="0"/>
              <a:t>The cost of new attractions continues to climb, and industry players must search for better ways to quantify potential guest interest </a:t>
            </a:r>
          </a:p>
          <a:p>
            <a:pPr algn="ctr"/>
            <a:r>
              <a:rPr lang="en-US" sz="2400" dirty="0"/>
              <a:t>and increase revenue.</a:t>
            </a:r>
            <a:endParaRPr lang="en-US" sz="1400" dirty="0"/>
          </a:p>
        </p:txBody>
      </p:sp>
      <p:sp>
        <p:nvSpPr>
          <p:cNvPr id="30" name="Oval 29">
            <a:extLst>
              <a:ext uri="{FF2B5EF4-FFF2-40B4-BE49-F238E27FC236}">
                <a16:creationId xmlns:a16="http://schemas.microsoft.com/office/drawing/2014/main" id="{1EA8C91F-84E5-0C26-8B61-C7662AA6CDCC}"/>
              </a:ext>
            </a:extLst>
          </p:cNvPr>
          <p:cNvSpPr/>
          <p:nvPr/>
        </p:nvSpPr>
        <p:spPr>
          <a:xfrm>
            <a:off x="300729" y="3331880"/>
            <a:ext cx="1352781" cy="1306793"/>
          </a:xfrm>
          <a:prstGeom prst="ellipse">
            <a:avLst/>
          </a:prstGeom>
          <a:solidFill>
            <a:srgbClr val="CFCFCF"/>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Stack Of Dollar Bills Money transparent PNG - StickPNG">
            <a:extLst>
              <a:ext uri="{FF2B5EF4-FFF2-40B4-BE49-F238E27FC236}">
                <a16:creationId xmlns:a16="http://schemas.microsoft.com/office/drawing/2014/main" id="{90875E2F-C304-DA27-2959-0F081FEDDC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732" y="3687028"/>
            <a:ext cx="1063923" cy="653977"/>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a:extLst>
              <a:ext uri="{FF2B5EF4-FFF2-40B4-BE49-F238E27FC236}">
                <a16:creationId xmlns:a16="http://schemas.microsoft.com/office/drawing/2014/main" id="{ACDDC2D5-1633-9748-7D0B-29A91E583BB1}"/>
              </a:ext>
            </a:extLst>
          </p:cNvPr>
          <p:cNvSpPr/>
          <p:nvPr/>
        </p:nvSpPr>
        <p:spPr>
          <a:xfrm>
            <a:off x="1005693" y="4993820"/>
            <a:ext cx="10407215" cy="1306793"/>
          </a:xfrm>
          <a:prstGeom prst="rect">
            <a:avLst/>
          </a:prstGeom>
          <a:gradFill flip="none" rotWithShape="1">
            <a:gsLst>
              <a:gs pos="100000">
                <a:schemeClr val="bg1"/>
              </a:gs>
              <a:gs pos="54000">
                <a:srgbClr val="85E0E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3A4F592B-509A-BCB3-EBCC-069FCE7BC78A}"/>
              </a:ext>
            </a:extLst>
          </p:cNvPr>
          <p:cNvSpPr/>
          <p:nvPr/>
        </p:nvSpPr>
        <p:spPr>
          <a:xfrm>
            <a:off x="357853" y="4993820"/>
            <a:ext cx="1352781" cy="1306793"/>
          </a:xfrm>
          <a:prstGeom prst="ellipse">
            <a:avLst/>
          </a:prstGeom>
          <a:solidFill>
            <a:srgbClr val="43CDD9"/>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5">
            <a:extLst>
              <a:ext uri="{FF2B5EF4-FFF2-40B4-BE49-F238E27FC236}">
                <a16:creationId xmlns:a16="http://schemas.microsoft.com/office/drawing/2014/main" id="{4DBB08EE-0AE2-65CC-2578-79D91DDA8170}"/>
              </a:ext>
            </a:extLst>
          </p:cNvPr>
          <p:cNvSpPr>
            <a:spLocks noEditPoints="1"/>
          </p:cNvSpPr>
          <p:nvPr/>
        </p:nvSpPr>
        <p:spPr bwMode="auto">
          <a:xfrm>
            <a:off x="683227" y="5467350"/>
            <a:ext cx="854428" cy="380999"/>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TextBox 36">
            <a:extLst>
              <a:ext uri="{FF2B5EF4-FFF2-40B4-BE49-F238E27FC236}">
                <a16:creationId xmlns:a16="http://schemas.microsoft.com/office/drawing/2014/main" id="{4DF7098A-3AD4-516D-8939-38F0E4D48D62}"/>
              </a:ext>
            </a:extLst>
          </p:cNvPr>
          <p:cNvSpPr txBox="1"/>
          <p:nvPr/>
        </p:nvSpPr>
        <p:spPr>
          <a:xfrm>
            <a:off x="1785227" y="5288517"/>
            <a:ext cx="8848146" cy="738664"/>
          </a:xfrm>
          <a:prstGeom prst="rect">
            <a:avLst/>
          </a:prstGeom>
          <a:noFill/>
        </p:spPr>
        <p:txBody>
          <a:bodyPr wrap="square" lIns="0" tIns="0" rIns="0" bIns="0" rtlCol="0">
            <a:spAutoFit/>
          </a:bodyPr>
          <a:lstStyle/>
          <a:p>
            <a:pPr algn="ctr"/>
            <a:r>
              <a:rPr lang="en-US" sz="2400" dirty="0"/>
              <a:t>Google Trends may provide new insight to help predict success of theme park attractions and ensure better outcomes.</a:t>
            </a:r>
            <a:endParaRPr lang="en-US" sz="1400" dirty="0"/>
          </a:p>
        </p:txBody>
      </p:sp>
    </p:spTree>
    <p:extLst>
      <p:ext uri="{BB962C8B-B14F-4D97-AF65-F5344CB8AC3E}">
        <p14:creationId xmlns:p14="http://schemas.microsoft.com/office/powerpoint/2010/main" val="858800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110" name="TextBox 109"/>
          <p:cNvSpPr txBox="1"/>
          <p:nvPr/>
        </p:nvSpPr>
        <p:spPr>
          <a:xfrm>
            <a:off x="1419272" y="165381"/>
            <a:ext cx="9353523" cy="461665"/>
          </a:xfrm>
          <a:prstGeom prst="rect">
            <a:avLst/>
          </a:prstGeom>
          <a:noFill/>
        </p:spPr>
        <p:txBody>
          <a:bodyPr wrap="none" lIns="0" tIns="0" rIns="0" bIns="0" rtlCol="0">
            <a:spAutoFit/>
          </a:bodyPr>
          <a:lstStyle/>
          <a:p>
            <a:pPr algn="ctr">
              <a:tabLst>
                <a:tab pos="347663" algn="l"/>
              </a:tabLst>
            </a:pPr>
            <a:r>
              <a:rPr lang="en-US" sz="3000" b="1" dirty="0">
                <a:solidFill>
                  <a:srgbClr val="30353F"/>
                </a:solidFill>
                <a:latin typeface="+mj-lt"/>
              </a:rPr>
              <a:t>POPULARITY OF THEMED x UNTHEMED ATTRACTIONS</a:t>
            </a:r>
          </a:p>
        </p:txBody>
      </p:sp>
      <p:sp>
        <p:nvSpPr>
          <p:cNvPr id="155" name="Rectangle 154">
            <a:extLst>
              <a:ext uri="{C183D7F6-B498-43B3-948B-1728B52AA6E4}">
                <adec:decorative xmlns:adec="http://schemas.microsoft.com/office/drawing/2017/decorative" val="1"/>
              </a:ext>
            </a:extLst>
          </p:cNvPr>
          <p:cNvSpPr/>
          <p:nvPr/>
        </p:nvSpPr>
        <p:spPr>
          <a:xfrm>
            <a:off x="554991" y="906450"/>
            <a:ext cx="5527152" cy="3217755"/>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1" name="Group 60" descr="This is an icon of a chart. "/>
          <p:cNvGrpSpPr/>
          <p:nvPr/>
        </p:nvGrpSpPr>
        <p:grpSpPr>
          <a:xfrm>
            <a:off x="9178091" y="4509010"/>
            <a:ext cx="377200" cy="179334"/>
            <a:chOff x="4254500" y="2100263"/>
            <a:chExt cx="1906588" cy="906463"/>
          </a:xfrm>
        </p:grpSpPr>
        <p:sp>
          <p:nvSpPr>
            <p:cNvPr id="62" name="Freeform 5"/>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6"/>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7"/>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3" name="TextBox 32">
            <a:extLst>
              <a:ext uri="{FF2B5EF4-FFF2-40B4-BE49-F238E27FC236}">
                <a16:creationId xmlns:a16="http://schemas.microsoft.com/office/drawing/2014/main" id="{5C7F3CEE-E6DF-48C0-8B9A-22A03DF4C29B}"/>
              </a:ext>
            </a:extLst>
          </p:cNvPr>
          <p:cNvSpPr txBox="1"/>
          <p:nvPr/>
        </p:nvSpPr>
        <p:spPr>
          <a:xfrm>
            <a:off x="11907454" y="6481180"/>
            <a:ext cx="277640" cy="307777"/>
          </a:xfrm>
          <a:prstGeom prst="rect">
            <a:avLst/>
          </a:prstGeom>
          <a:noFill/>
        </p:spPr>
        <p:txBody>
          <a:bodyPr wrap="none" rtlCol="0">
            <a:spAutoFit/>
          </a:bodyPr>
          <a:lstStyle/>
          <a:p>
            <a:r>
              <a:rPr lang="en-US" sz="1400" b="1" dirty="0">
                <a:solidFill>
                  <a:schemeClr val="bg1"/>
                </a:solidFill>
              </a:rPr>
              <a:t>3</a:t>
            </a: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13" name="Rectangle 12">
            <a:extLst>
              <a:ext uri="{FF2B5EF4-FFF2-40B4-BE49-F238E27FC236}">
                <a16:creationId xmlns:a16="http://schemas.microsoft.com/office/drawing/2014/main" id="{4EDDCBA4-2E61-3DC9-0037-7AB87C5DC00B}"/>
              </a:ext>
              <a:ext uri="{C183D7F6-B498-43B3-948B-1728B52AA6E4}">
                <adec:decorative xmlns:adec="http://schemas.microsoft.com/office/drawing/2017/decorative" val="1"/>
              </a:ext>
            </a:extLst>
          </p:cNvPr>
          <p:cNvSpPr/>
          <p:nvPr/>
        </p:nvSpPr>
        <p:spPr>
          <a:xfrm>
            <a:off x="7913077" y="967822"/>
            <a:ext cx="3672071" cy="2206201"/>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512F0323-24D5-A1E0-8096-840DA5A051A6}"/>
              </a:ext>
            </a:extLst>
          </p:cNvPr>
          <p:cNvSpPr txBox="1"/>
          <p:nvPr/>
        </p:nvSpPr>
        <p:spPr>
          <a:xfrm>
            <a:off x="8409215" y="1036291"/>
            <a:ext cx="2679794" cy="215444"/>
          </a:xfrm>
          <a:prstGeom prst="rect">
            <a:avLst/>
          </a:prstGeom>
          <a:noFill/>
        </p:spPr>
        <p:txBody>
          <a:bodyPr wrap="square" lIns="0" tIns="0" rIns="0" bIns="0" rtlCol="0">
            <a:spAutoFit/>
          </a:bodyPr>
          <a:lstStyle/>
          <a:p>
            <a:pPr algn="ctr"/>
            <a:r>
              <a:rPr lang="en-US" sz="1400" dirty="0"/>
              <a:t>Google Trends Comparison:</a:t>
            </a:r>
          </a:p>
        </p:txBody>
      </p:sp>
      <p:cxnSp>
        <p:nvCxnSpPr>
          <p:cNvPr id="19" name="Elbow Connector 3">
            <a:extLst>
              <a:ext uri="{FF2B5EF4-FFF2-40B4-BE49-F238E27FC236}">
                <a16:creationId xmlns:a16="http://schemas.microsoft.com/office/drawing/2014/main" id="{6C42016B-FEB0-A2E0-9A3E-9EE442396D0F}"/>
              </a:ext>
              <a:ext uri="{C183D7F6-B498-43B3-948B-1728B52AA6E4}">
                <adec:decorative xmlns:adec="http://schemas.microsoft.com/office/drawing/2017/decorative" val="1"/>
              </a:ext>
            </a:extLst>
          </p:cNvPr>
          <p:cNvCxnSpPr>
            <a:cxnSpLocks/>
          </p:cNvCxnSpPr>
          <p:nvPr/>
        </p:nvCxnSpPr>
        <p:spPr>
          <a:xfrm flipV="1">
            <a:off x="6041446" y="1876425"/>
            <a:ext cx="1967696" cy="400917"/>
          </a:xfrm>
          <a:prstGeom prst="bentConnector3">
            <a:avLst>
              <a:gd name="adj1" fmla="val 36930"/>
            </a:avLst>
          </a:prstGeom>
          <a:ln>
            <a:solidFill>
              <a:srgbClr val="30353F"/>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8A2B696-E8D9-6851-1FCB-25F1EB6BB535}"/>
              </a:ext>
              <a:ext uri="{C183D7F6-B498-43B3-948B-1728B52AA6E4}">
                <adec:decorative xmlns:adec="http://schemas.microsoft.com/office/drawing/2017/decorative" val="1"/>
              </a:ext>
            </a:extLst>
          </p:cNvPr>
          <p:cNvSpPr/>
          <p:nvPr/>
        </p:nvSpPr>
        <p:spPr>
          <a:xfrm>
            <a:off x="6252530" y="3374089"/>
            <a:ext cx="5527152" cy="2997755"/>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84B43FC-6A06-179D-BE2C-465C8BF55A10}"/>
              </a:ext>
              <a:ext uri="{C183D7F6-B498-43B3-948B-1728B52AA6E4}">
                <adec:decorative xmlns:adec="http://schemas.microsoft.com/office/drawing/2017/decorative" val="1"/>
              </a:ext>
            </a:extLst>
          </p:cNvPr>
          <p:cNvSpPr/>
          <p:nvPr/>
        </p:nvSpPr>
        <p:spPr>
          <a:xfrm>
            <a:off x="726530" y="4688344"/>
            <a:ext cx="3352181" cy="1406909"/>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2" name="Elbow Connector 3">
            <a:extLst>
              <a:ext uri="{FF2B5EF4-FFF2-40B4-BE49-F238E27FC236}">
                <a16:creationId xmlns:a16="http://schemas.microsoft.com/office/drawing/2014/main" id="{69BEFFAD-3BB3-3036-BC22-F4537F0C5E60}"/>
              </a:ext>
              <a:ext uri="{C183D7F6-B498-43B3-948B-1728B52AA6E4}">
                <adec:decorative xmlns:adec="http://schemas.microsoft.com/office/drawing/2017/decorative" val="1"/>
              </a:ext>
            </a:extLst>
          </p:cNvPr>
          <p:cNvCxnSpPr>
            <a:cxnSpLocks/>
          </p:cNvCxnSpPr>
          <p:nvPr/>
        </p:nvCxnSpPr>
        <p:spPr>
          <a:xfrm flipV="1">
            <a:off x="4049501" y="5094180"/>
            <a:ext cx="2203029" cy="397369"/>
          </a:xfrm>
          <a:prstGeom prst="bentConnector3">
            <a:avLst>
              <a:gd name="adj1" fmla="val 67294"/>
            </a:avLst>
          </a:prstGeom>
          <a:ln>
            <a:solidFill>
              <a:srgbClr val="30353F"/>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6A43EE73-BE1E-6D06-6685-3FF96A89AA15}"/>
              </a:ext>
            </a:extLst>
          </p:cNvPr>
          <p:cNvSpPr txBox="1"/>
          <p:nvPr/>
        </p:nvSpPr>
        <p:spPr>
          <a:xfrm>
            <a:off x="8068625" y="1317610"/>
            <a:ext cx="3360974" cy="1508105"/>
          </a:xfrm>
          <a:prstGeom prst="rect">
            <a:avLst/>
          </a:prstGeom>
          <a:noFill/>
        </p:spPr>
        <p:txBody>
          <a:bodyPr wrap="square" lIns="0" tIns="0" rIns="0" bIns="0" rtlCol="0">
            <a:spAutoFit/>
          </a:bodyPr>
          <a:lstStyle/>
          <a:p>
            <a:pPr algn="ctr"/>
            <a:r>
              <a:rPr lang="en-US" sz="1400" dirty="0"/>
              <a:t>Comparison of the popularity of three Florida coasters with the Wizarding World of Harry Potter shows the dominance of themed lands. Not all popularity is positive: The spikes of SheiKra in 2016 arose when the ride was stuck 200 ft in the air. Likewise, </a:t>
            </a:r>
            <a:r>
              <a:rPr lang="en-US" sz="1400" dirty="0" err="1"/>
              <a:t>Rockit’s</a:t>
            </a:r>
            <a:r>
              <a:rPr lang="en-US" sz="1400" dirty="0"/>
              <a:t> spike in 2013 came from a similar event.</a:t>
            </a:r>
          </a:p>
        </p:txBody>
      </p:sp>
      <p:pic>
        <p:nvPicPr>
          <p:cNvPr id="4" name="Picture 3" descr="Graphical user interface, application&#10;&#10;Description automatically generated">
            <a:extLst>
              <a:ext uri="{FF2B5EF4-FFF2-40B4-BE49-F238E27FC236}">
                <a16:creationId xmlns:a16="http://schemas.microsoft.com/office/drawing/2014/main" id="{DD5EA6A4-AF42-CAB1-2DC9-D295E8C612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7352" y="1025839"/>
            <a:ext cx="5375706" cy="2962414"/>
          </a:xfrm>
          <a:prstGeom prst="rect">
            <a:avLst/>
          </a:prstGeom>
        </p:spPr>
      </p:pic>
      <p:pic>
        <p:nvPicPr>
          <p:cNvPr id="6" name="Picture 5" descr="Graphical user interface&#10;&#10;Description automatically generated">
            <a:extLst>
              <a:ext uri="{FF2B5EF4-FFF2-40B4-BE49-F238E27FC236}">
                <a16:creationId xmlns:a16="http://schemas.microsoft.com/office/drawing/2014/main" id="{EC67B08C-8F18-705D-6224-10F6B968B0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44286" y="3485171"/>
            <a:ext cx="5308646" cy="2750142"/>
          </a:xfrm>
          <a:prstGeom prst="rect">
            <a:avLst/>
          </a:prstGeom>
        </p:spPr>
      </p:pic>
      <p:sp>
        <p:nvSpPr>
          <p:cNvPr id="7" name="TextBox 6">
            <a:extLst>
              <a:ext uri="{FF2B5EF4-FFF2-40B4-BE49-F238E27FC236}">
                <a16:creationId xmlns:a16="http://schemas.microsoft.com/office/drawing/2014/main" id="{EA80D784-1656-91B0-211A-11CDACDACE90}"/>
              </a:ext>
            </a:extLst>
          </p:cNvPr>
          <p:cNvSpPr txBox="1"/>
          <p:nvPr/>
        </p:nvSpPr>
        <p:spPr>
          <a:xfrm>
            <a:off x="1038515" y="4797000"/>
            <a:ext cx="2691220" cy="1077218"/>
          </a:xfrm>
          <a:prstGeom prst="rect">
            <a:avLst/>
          </a:prstGeom>
          <a:noFill/>
        </p:spPr>
        <p:txBody>
          <a:bodyPr wrap="square" lIns="0" tIns="0" rIns="0" bIns="0" rtlCol="0">
            <a:spAutoFit/>
          </a:bodyPr>
          <a:lstStyle/>
          <a:p>
            <a:pPr algn="ctr"/>
            <a:r>
              <a:rPr lang="en-US" sz="1400" dirty="0"/>
              <a:t>In Universal, a comparison of two attractions (one, a roller coaster, and the other, a themed land) shows the dramatic dominance of themed lands over thrill coasters.</a:t>
            </a:r>
          </a:p>
        </p:txBody>
      </p:sp>
    </p:spTree>
    <p:extLst>
      <p:ext uri="{BB962C8B-B14F-4D97-AF65-F5344CB8AC3E}">
        <p14:creationId xmlns:p14="http://schemas.microsoft.com/office/powerpoint/2010/main" val="126027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110" name="TextBox 109"/>
          <p:cNvSpPr txBox="1"/>
          <p:nvPr/>
        </p:nvSpPr>
        <p:spPr>
          <a:xfrm>
            <a:off x="1276596" y="165381"/>
            <a:ext cx="9638857" cy="461665"/>
          </a:xfrm>
          <a:prstGeom prst="rect">
            <a:avLst/>
          </a:prstGeom>
          <a:noFill/>
        </p:spPr>
        <p:txBody>
          <a:bodyPr wrap="none" lIns="0" tIns="0" rIns="0" bIns="0" rtlCol="0">
            <a:spAutoFit/>
          </a:bodyPr>
          <a:lstStyle/>
          <a:p>
            <a:pPr algn="ctr">
              <a:tabLst>
                <a:tab pos="347663" algn="l"/>
              </a:tabLst>
            </a:pPr>
            <a:r>
              <a:rPr lang="en-US" sz="3000" b="1" dirty="0">
                <a:solidFill>
                  <a:srgbClr val="30353F"/>
                </a:solidFill>
                <a:latin typeface="+mj-lt"/>
              </a:rPr>
              <a:t>DOMESTIC POPULARITY OF ATTRACTIONS AND PARKS</a:t>
            </a:r>
          </a:p>
        </p:txBody>
      </p:sp>
      <p:sp>
        <p:nvSpPr>
          <p:cNvPr id="155" name="Rectangle 154">
            <a:extLst>
              <a:ext uri="{C183D7F6-B498-43B3-948B-1728B52AA6E4}">
                <adec:decorative xmlns:adec="http://schemas.microsoft.com/office/drawing/2017/decorative" val="1"/>
              </a:ext>
            </a:extLst>
          </p:cNvPr>
          <p:cNvSpPr/>
          <p:nvPr/>
        </p:nvSpPr>
        <p:spPr>
          <a:xfrm>
            <a:off x="302580" y="952495"/>
            <a:ext cx="7023506" cy="2428293"/>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3" name="TextBox 32">
            <a:extLst>
              <a:ext uri="{FF2B5EF4-FFF2-40B4-BE49-F238E27FC236}">
                <a16:creationId xmlns:a16="http://schemas.microsoft.com/office/drawing/2014/main" id="{5C7F3CEE-E6DF-48C0-8B9A-22A03DF4C29B}"/>
              </a:ext>
            </a:extLst>
          </p:cNvPr>
          <p:cNvSpPr txBox="1"/>
          <p:nvPr/>
        </p:nvSpPr>
        <p:spPr>
          <a:xfrm>
            <a:off x="11907454" y="6481180"/>
            <a:ext cx="280846" cy="307777"/>
          </a:xfrm>
          <a:prstGeom prst="rect">
            <a:avLst/>
          </a:prstGeom>
          <a:noFill/>
        </p:spPr>
        <p:txBody>
          <a:bodyPr wrap="none" rtlCol="0">
            <a:spAutoFit/>
          </a:bodyPr>
          <a:lstStyle/>
          <a:p>
            <a:r>
              <a:rPr lang="en-US" sz="1400" b="1" dirty="0">
                <a:solidFill>
                  <a:schemeClr val="bg1"/>
                </a:solidFill>
              </a:rPr>
              <a:t>4</a:t>
            </a: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13" name="Rectangle 12">
            <a:extLst>
              <a:ext uri="{FF2B5EF4-FFF2-40B4-BE49-F238E27FC236}">
                <a16:creationId xmlns:a16="http://schemas.microsoft.com/office/drawing/2014/main" id="{4EDDCBA4-2E61-3DC9-0037-7AB87C5DC00B}"/>
              </a:ext>
              <a:ext uri="{C183D7F6-B498-43B3-948B-1728B52AA6E4}">
                <adec:decorative xmlns:adec="http://schemas.microsoft.com/office/drawing/2017/decorative" val="1"/>
              </a:ext>
            </a:extLst>
          </p:cNvPr>
          <p:cNvSpPr/>
          <p:nvPr/>
        </p:nvSpPr>
        <p:spPr>
          <a:xfrm>
            <a:off x="8428663" y="1138702"/>
            <a:ext cx="2839412" cy="1842622"/>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512F0323-24D5-A1E0-8096-840DA5A051A6}"/>
              </a:ext>
            </a:extLst>
          </p:cNvPr>
          <p:cNvSpPr txBox="1"/>
          <p:nvPr/>
        </p:nvSpPr>
        <p:spPr>
          <a:xfrm>
            <a:off x="8748417" y="1469466"/>
            <a:ext cx="2278509" cy="1077218"/>
          </a:xfrm>
          <a:prstGeom prst="rect">
            <a:avLst/>
          </a:prstGeom>
          <a:noFill/>
        </p:spPr>
        <p:txBody>
          <a:bodyPr wrap="square" lIns="0" tIns="0" rIns="0" bIns="0" rtlCol="0">
            <a:spAutoFit/>
          </a:bodyPr>
          <a:lstStyle/>
          <a:p>
            <a:pPr algn="ctr"/>
            <a:r>
              <a:rPr lang="en-US" sz="1400" dirty="0"/>
              <a:t>Google Trends compares online popularity of three Florida coasters with a themed land, revealing the dominance of the Wizarding World.</a:t>
            </a:r>
          </a:p>
        </p:txBody>
      </p:sp>
      <p:cxnSp>
        <p:nvCxnSpPr>
          <p:cNvPr id="19" name="Elbow Connector 3">
            <a:extLst>
              <a:ext uri="{FF2B5EF4-FFF2-40B4-BE49-F238E27FC236}">
                <a16:creationId xmlns:a16="http://schemas.microsoft.com/office/drawing/2014/main" id="{6C42016B-FEB0-A2E0-9A3E-9EE442396D0F}"/>
              </a:ext>
              <a:ext uri="{C183D7F6-B498-43B3-948B-1728B52AA6E4}">
                <adec:decorative xmlns:adec="http://schemas.microsoft.com/office/drawing/2017/decorative" val="1"/>
              </a:ext>
            </a:extLst>
          </p:cNvPr>
          <p:cNvCxnSpPr>
            <a:cxnSpLocks/>
          </p:cNvCxnSpPr>
          <p:nvPr/>
        </p:nvCxnSpPr>
        <p:spPr>
          <a:xfrm flipV="1">
            <a:off x="7297511" y="1849509"/>
            <a:ext cx="1181182" cy="317133"/>
          </a:xfrm>
          <a:prstGeom prst="bentConnector3">
            <a:avLst>
              <a:gd name="adj1" fmla="val 50000"/>
            </a:avLst>
          </a:prstGeom>
          <a:ln>
            <a:solidFill>
              <a:srgbClr val="30353F"/>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84B43FC-6A06-179D-BE2C-465C8BF55A10}"/>
              </a:ext>
              <a:ext uri="{C183D7F6-B498-43B3-948B-1728B52AA6E4}">
                <adec:decorative xmlns:adec="http://schemas.microsoft.com/office/drawing/2017/decorative" val="1"/>
              </a:ext>
            </a:extLst>
          </p:cNvPr>
          <p:cNvSpPr/>
          <p:nvPr/>
        </p:nvSpPr>
        <p:spPr>
          <a:xfrm>
            <a:off x="980992" y="4048126"/>
            <a:ext cx="3352181" cy="1857380"/>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2" name="Elbow Connector 3">
            <a:extLst>
              <a:ext uri="{FF2B5EF4-FFF2-40B4-BE49-F238E27FC236}">
                <a16:creationId xmlns:a16="http://schemas.microsoft.com/office/drawing/2014/main" id="{69BEFFAD-3BB3-3036-BC22-F4537F0C5E60}"/>
              </a:ext>
              <a:ext uri="{C183D7F6-B498-43B3-948B-1728B52AA6E4}">
                <adec:decorative xmlns:adec="http://schemas.microsoft.com/office/drawing/2017/decorative" val="1"/>
              </a:ext>
            </a:extLst>
          </p:cNvPr>
          <p:cNvCxnSpPr>
            <a:cxnSpLocks/>
            <a:stCxn id="21" idx="3"/>
          </p:cNvCxnSpPr>
          <p:nvPr/>
        </p:nvCxnSpPr>
        <p:spPr>
          <a:xfrm>
            <a:off x="4333173" y="4976816"/>
            <a:ext cx="1403597" cy="390138"/>
          </a:xfrm>
          <a:prstGeom prst="bentConnector3">
            <a:avLst>
              <a:gd name="adj1" fmla="val 50000"/>
            </a:avLst>
          </a:prstGeom>
          <a:ln>
            <a:solidFill>
              <a:srgbClr val="30353F"/>
            </a:solidFill>
          </a:ln>
        </p:spPr>
        <p:style>
          <a:lnRef idx="1">
            <a:schemeClr val="accent1"/>
          </a:lnRef>
          <a:fillRef idx="0">
            <a:schemeClr val="accent1"/>
          </a:fillRef>
          <a:effectRef idx="0">
            <a:schemeClr val="accent1"/>
          </a:effectRef>
          <a:fontRef idx="minor">
            <a:schemeClr val="tx1"/>
          </a:fontRef>
        </p:style>
      </p:cxnSp>
      <p:pic>
        <p:nvPicPr>
          <p:cNvPr id="7" name="Picture 6" descr="Map&#10;&#10;Description automatically generated">
            <a:extLst>
              <a:ext uri="{FF2B5EF4-FFF2-40B4-BE49-F238E27FC236}">
                <a16:creationId xmlns:a16="http://schemas.microsoft.com/office/drawing/2014/main" id="{445616FF-FF75-0263-ED80-5DF6145B24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1966" y="1138702"/>
            <a:ext cx="6571623" cy="1938532"/>
          </a:xfrm>
          <a:prstGeom prst="rect">
            <a:avLst/>
          </a:prstGeom>
        </p:spPr>
      </p:pic>
      <p:sp>
        <p:nvSpPr>
          <p:cNvPr id="8" name="Rectangle 7">
            <a:extLst>
              <a:ext uri="{FF2B5EF4-FFF2-40B4-BE49-F238E27FC236}">
                <a16:creationId xmlns:a16="http://schemas.microsoft.com/office/drawing/2014/main" id="{F30FE49C-B273-6CF3-C3BD-F521F46FD953}"/>
              </a:ext>
              <a:ext uri="{C183D7F6-B498-43B3-948B-1728B52AA6E4}">
                <adec:decorative xmlns:adec="http://schemas.microsoft.com/office/drawing/2017/decorative" val="1"/>
              </a:ext>
            </a:extLst>
          </p:cNvPr>
          <p:cNvSpPr/>
          <p:nvPr/>
        </p:nvSpPr>
        <p:spPr>
          <a:xfrm>
            <a:off x="5736771" y="3755634"/>
            <a:ext cx="6170683" cy="2601623"/>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Map&#10;&#10;Description automatically generated">
            <a:extLst>
              <a:ext uri="{FF2B5EF4-FFF2-40B4-BE49-F238E27FC236}">
                <a16:creationId xmlns:a16="http://schemas.microsoft.com/office/drawing/2014/main" id="{B76BE09B-E072-492C-389A-2A7A7BDAEE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8123" y="3919818"/>
            <a:ext cx="5607978" cy="2266826"/>
          </a:xfrm>
          <a:prstGeom prst="rect">
            <a:avLst/>
          </a:prstGeom>
        </p:spPr>
      </p:pic>
      <p:sp>
        <p:nvSpPr>
          <p:cNvPr id="17" name="TextBox 16">
            <a:extLst>
              <a:ext uri="{FF2B5EF4-FFF2-40B4-BE49-F238E27FC236}">
                <a16:creationId xmlns:a16="http://schemas.microsoft.com/office/drawing/2014/main" id="{652DA8F5-8B61-CB86-1BD7-D265F019E5FD}"/>
              </a:ext>
            </a:extLst>
          </p:cNvPr>
          <p:cNvSpPr txBox="1"/>
          <p:nvPr/>
        </p:nvSpPr>
        <p:spPr>
          <a:xfrm>
            <a:off x="1394818" y="4437149"/>
            <a:ext cx="2524527" cy="1077218"/>
          </a:xfrm>
          <a:prstGeom prst="rect">
            <a:avLst/>
          </a:prstGeom>
          <a:noFill/>
        </p:spPr>
        <p:txBody>
          <a:bodyPr wrap="square" lIns="0" tIns="0" rIns="0" bIns="0" rtlCol="0">
            <a:spAutoFit/>
          </a:bodyPr>
          <a:lstStyle/>
          <a:p>
            <a:pPr algn="ctr"/>
            <a:r>
              <a:rPr lang="en-US" sz="1400" dirty="0"/>
              <a:t>Note that only Michigan and Ohio have Cedar Point, a local coaster park, is more popular than Walt Disney World, which is a theme park.</a:t>
            </a:r>
          </a:p>
        </p:txBody>
      </p:sp>
    </p:spTree>
    <p:extLst>
      <p:ext uri="{BB962C8B-B14F-4D97-AF65-F5344CB8AC3E}">
        <p14:creationId xmlns:p14="http://schemas.microsoft.com/office/powerpoint/2010/main" val="2958622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110" name="TextBox 109"/>
          <p:cNvSpPr txBox="1"/>
          <p:nvPr/>
        </p:nvSpPr>
        <p:spPr>
          <a:xfrm>
            <a:off x="914271" y="365946"/>
            <a:ext cx="5176097" cy="461665"/>
          </a:xfrm>
          <a:prstGeom prst="rect">
            <a:avLst/>
          </a:prstGeom>
          <a:noFill/>
        </p:spPr>
        <p:txBody>
          <a:bodyPr wrap="none" lIns="0" tIns="0" rIns="0" bIns="0" rtlCol="0">
            <a:spAutoFit/>
          </a:bodyPr>
          <a:lstStyle/>
          <a:p>
            <a:pPr algn="ctr">
              <a:tabLst>
                <a:tab pos="347663" algn="l"/>
              </a:tabLst>
            </a:pPr>
            <a:r>
              <a:rPr lang="en-US" sz="3000" b="1" dirty="0">
                <a:solidFill>
                  <a:srgbClr val="30353F"/>
                </a:solidFill>
                <a:latin typeface="+mj-lt"/>
              </a:rPr>
              <a:t>INTERNATIONAL POPULARITY</a:t>
            </a:r>
          </a:p>
        </p:txBody>
      </p:sp>
      <p:sp>
        <p:nvSpPr>
          <p:cNvPr id="155" name="Rectangle 154">
            <a:extLst>
              <a:ext uri="{C183D7F6-B498-43B3-948B-1728B52AA6E4}">
                <adec:decorative xmlns:adec="http://schemas.microsoft.com/office/drawing/2017/decorative" val="1"/>
              </a:ext>
            </a:extLst>
          </p:cNvPr>
          <p:cNvSpPr/>
          <p:nvPr/>
        </p:nvSpPr>
        <p:spPr>
          <a:xfrm>
            <a:off x="1000125" y="923925"/>
            <a:ext cx="4933950" cy="2619375"/>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3" name="TextBox 32">
            <a:extLst>
              <a:ext uri="{FF2B5EF4-FFF2-40B4-BE49-F238E27FC236}">
                <a16:creationId xmlns:a16="http://schemas.microsoft.com/office/drawing/2014/main" id="{5C7F3CEE-E6DF-48C0-8B9A-22A03DF4C29B}"/>
              </a:ext>
            </a:extLst>
          </p:cNvPr>
          <p:cNvSpPr txBox="1"/>
          <p:nvPr/>
        </p:nvSpPr>
        <p:spPr>
          <a:xfrm>
            <a:off x="11831652" y="6481179"/>
            <a:ext cx="280846" cy="307777"/>
          </a:xfrm>
          <a:prstGeom prst="rect">
            <a:avLst/>
          </a:prstGeom>
          <a:noFill/>
        </p:spPr>
        <p:txBody>
          <a:bodyPr wrap="none" rtlCol="0">
            <a:spAutoFit/>
          </a:bodyPr>
          <a:lstStyle/>
          <a:p>
            <a:r>
              <a:rPr lang="en-US" sz="1400" b="1" dirty="0">
                <a:solidFill>
                  <a:schemeClr val="bg1"/>
                </a:solidFill>
              </a:rPr>
              <a:t>5</a:t>
            </a: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13" name="Rectangle 12">
            <a:extLst>
              <a:ext uri="{FF2B5EF4-FFF2-40B4-BE49-F238E27FC236}">
                <a16:creationId xmlns:a16="http://schemas.microsoft.com/office/drawing/2014/main" id="{4EDDCBA4-2E61-3DC9-0037-7AB87C5DC00B}"/>
              </a:ext>
              <a:ext uri="{C183D7F6-B498-43B3-948B-1728B52AA6E4}">
                <adec:decorative xmlns:adec="http://schemas.microsoft.com/office/drawing/2017/decorative" val="1"/>
              </a:ext>
            </a:extLst>
          </p:cNvPr>
          <p:cNvSpPr/>
          <p:nvPr/>
        </p:nvSpPr>
        <p:spPr>
          <a:xfrm>
            <a:off x="7161706" y="1382738"/>
            <a:ext cx="4488138" cy="4216475"/>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6A43EE73-BE1E-6D06-6685-3FF96A89AA15}"/>
              </a:ext>
            </a:extLst>
          </p:cNvPr>
          <p:cNvSpPr txBox="1"/>
          <p:nvPr/>
        </p:nvSpPr>
        <p:spPr>
          <a:xfrm>
            <a:off x="7600950" y="2207239"/>
            <a:ext cx="3810000" cy="3046988"/>
          </a:xfrm>
          <a:prstGeom prst="rect">
            <a:avLst/>
          </a:prstGeom>
          <a:noFill/>
        </p:spPr>
        <p:txBody>
          <a:bodyPr wrap="square" lIns="0" tIns="0" rIns="0" bIns="0" rtlCol="0">
            <a:spAutoFit/>
          </a:bodyPr>
          <a:lstStyle/>
          <a:p>
            <a:pPr algn="ctr"/>
            <a:r>
              <a:rPr lang="en-US" dirty="0"/>
              <a:t>Google Trends reveals the same tendencies in international interest. In Brazil, Universal Orlando is highly competitive with Disney, while the other parks are significantly less searched. </a:t>
            </a:r>
          </a:p>
          <a:p>
            <a:pPr algn="ctr"/>
            <a:r>
              <a:rPr lang="en-US" dirty="0"/>
              <a:t>Also, in the “Related Queries” section for Universal, the 6</a:t>
            </a:r>
            <a:r>
              <a:rPr lang="en-US" baseline="30000" dirty="0"/>
              <a:t>th</a:t>
            </a:r>
            <a:r>
              <a:rPr lang="en-US" dirty="0"/>
              <a:t> ranking is </a:t>
            </a:r>
          </a:p>
          <a:p>
            <a:pPr algn="ctr"/>
            <a:r>
              <a:rPr lang="en-US" dirty="0"/>
              <a:t>“Harry Potter.” Moreover, the popularity of the Wizarding World absolutely crushes three other Florida landmark rides in the UK.</a:t>
            </a:r>
          </a:p>
        </p:txBody>
      </p:sp>
      <p:pic>
        <p:nvPicPr>
          <p:cNvPr id="4" name="Picture 3">
            <a:extLst>
              <a:ext uri="{FF2B5EF4-FFF2-40B4-BE49-F238E27FC236}">
                <a16:creationId xmlns:a16="http://schemas.microsoft.com/office/drawing/2014/main" id="{1E6F0AFB-D25F-6792-1EF5-93520736DBFB}"/>
              </a:ext>
            </a:extLst>
          </p:cNvPr>
          <p:cNvPicPr>
            <a:picLocks noChangeAspect="1"/>
          </p:cNvPicPr>
          <p:nvPr/>
        </p:nvPicPr>
        <p:blipFill>
          <a:blip r:embed="rId2"/>
          <a:stretch>
            <a:fillRect/>
          </a:stretch>
        </p:blipFill>
        <p:spPr>
          <a:xfrm>
            <a:off x="1137578" y="1037704"/>
            <a:ext cx="4653622" cy="2405647"/>
          </a:xfrm>
          <a:prstGeom prst="rect">
            <a:avLst/>
          </a:prstGeom>
        </p:spPr>
      </p:pic>
      <p:sp>
        <p:nvSpPr>
          <p:cNvPr id="10" name="Oval 9">
            <a:extLst>
              <a:ext uri="{FF2B5EF4-FFF2-40B4-BE49-F238E27FC236}">
                <a16:creationId xmlns:a16="http://schemas.microsoft.com/office/drawing/2014/main" id="{177186D4-90F2-4ACB-7F86-40B7F3AC9E7D}"/>
              </a:ext>
              <a:ext uri="{C183D7F6-B498-43B3-948B-1728B52AA6E4}">
                <adec:decorative xmlns:adec="http://schemas.microsoft.com/office/drawing/2017/decorative" val="1"/>
              </a:ext>
            </a:extLst>
          </p:cNvPr>
          <p:cNvSpPr/>
          <p:nvPr/>
        </p:nvSpPr>
        <p:spPr>
          <a:xfrm>
            <a:off x="8595146" y="690106"/>
            <a:ext cx="1352782" cy="1301647"/>
          </a:xfrm>
          <a:prstGeom prst="ellipse">
            <a:avLst/>
          </a:prstGeom>
          <a:solidFill>
            <a:srgbClr val="30353F"/>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9C2EC3F-1235-3071-90A6-80396FC4DE88}"/>
              </a:ext>
              <a:ext uri="{C183D7F6-B498-43B3-948B-1728B52AA6E4}">
                <adec:decorative xmlns:adec="http://schemas.microsoft.com/office/drawing/2017/decorative" val="1"/>
              </a:ext>
            </a:extLst>
          </p:cNvPr>
          <p:cNvSpPr/>
          <p:nvPr/>
        </p:nvSpPr>
        <p:spPr>
          <a:xfrm>
            <a:off x="542156" y="3657079"/>
            <a:ext cx="5757762" cy="2824100"/>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descr="Chart&#10;&#10;Description automatically generated">
            <a:extLst>
              <a:ext uri="{FF2B5EF4-FFF2-40B4-BE49-F238E27FC236}">
                <a16:creationId xmlns:a16="http://schemas.microsoft.com/office/drawing/2014/main" id="{535477B3-F7AA-CD50-33A6-D27EFD32B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989" y="3799025"/>
            <a:ext cx="5524500" cy="2533650"/>
          </a:xfrm>
          <a:prstGeom prst="rect">
            <a:avLst/>
          </a:prstGeom>
        </p:spPr>
      </p:pic>
      <p:pic>
        <p:nvPicPr>
          <p:cNvPr id="3" name="Picture 2">
            <a:extLst>
              <a:ext uri="{FF2B5EF4-FFF2-40B4-BE49-F238E27FC236}">
                <a16:creationId xmlns:a16="http://schemas.microsoft.com/office/drawing/2014/main" id="{40D62C61-0487-AA16-FCD8-212EC69D83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05984" y="775376"/>
            <a:ext cx="1131105" cy="1131105"/>
          </a:xfrm>
          <a:prstGeom prst="rect">
            <a:avLst/>
          </a:prstGeom>
        </p:spPr>
      </p:pic>
    </p:spTree>
    <p:extLst>
      <p:ext uri="{BB962C8B-B14F-4D97-AF65-F5344CB8AC3E}">
        <p14:creationId xmlns:p14="http://schemas.microsoft.com/office/powerpoint/2010/main" val="94178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110" name="TextBox 109"/>
          <p:cNvSpPr txBox="1"/>
          <p:nvPr/>
        </p:nvSpPr>
        <p:spPr>
          <a:xfrm>
            <a:off x="3059110" y="185659"/>
            <a:ext cx="6073779" cy="461665"/>
          </a:xfrm>
          <a:prstGeom prst="rect">
            <a:avLst/>
          </a:prstGeom>
          <a:noFill/>
        </p:spPr>
        <p:txBody>
          <a:bodyPr wrap="none" lIns="0" tIns="0" rIns="0" bIns="0" rtlCol="0">
            <a:spAutoFit/>
          </a:bodyPr>
          <a:lstStyle/>
          <a:p>
            <a:pPr algn="ctr">
              <a:tabLst>
                <a:tab pos="347663" algn="l"/>
              </a:tabLst>
            </a:pPr>
            <a:r>
              <a:rPr lang="en-US" sz="3000" b="1" dirty="0">
                <a:solidFill>
                  <a:srgbClr val="30353F"/>
                </a:solidFill>
                <a:latin typeface="+mj-lt"/>
              </a:rPr>
              <a:t>PENNYWISE OR POUND FOOLISH?</a:t>
            </a:r>
          </a:p>
        </p:txBody>
      </p:sp>
      <p:sp>
        <p:nvSpPr>
          <p:cNvPr id="155" name="Rectangle 154">
            <a:extLst>
              <a:ext uri="{C183D7F6-B498-43B3-948B-1728B52AA6E4}">
                <adec:decorative xmlns:adec="http://schemas.microsoft.com/office/drawing/2017/decorative" val="1"/>
              </a:ext>
            </a:extLst>
          </p:cNvPr>
          <p:cNvSpPr/>
          <p:nvPr/>
        </p:nvSpPr>
        <p:spPr>
          <a:xfrm>
            <a:off x="5580880" y="837679"/>
            <a:ext cx="5757761" cy="2816285"/>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3" name="TextBox 32">
            <a:extLst>
              <a:ext uri="{FF2B5EF4-FFF2-40B4-BE49-F238E27FC236}">
                <a16:creationId xmlns:a16="http://schemas.microsoft.com/office/drawing/2014/main" id="{5C7F3CEE-E6DF-48C0-8B9A-22A03DF4C29B}"/>
              </a:ext>
            </a:extLst>
          </p:cNvPr>
          <p:cNvSpPr txBox="1"/>
          <p:nvPr/>
        </p:nvSpPr>
        <p:spPr>
          <a:xfrm>
            <a:off x="11831652" y="6481179"/>
            <a:ext cx="280846" cy="307777"/>
          </a:xfrm>
          <a:prstGeom prst="rect">
            <a:avLst/>
          </a:prstGeom>
          <a:noFill/>
        </p:spPr>
        <p:txBody>
          <a:bodyPr wrap="none" rtlCol="0">
            <a:spAutoFit/>
          </a:bodyPr>
          <a:lstStyle/>
          <a:p>
            <a:r>
              <a:rPr lang="en-US" sz="1400" b="1" dirty="0">
                <a:solidFill>
                  <a:schemeClr val="bg1"/>
                </a:solidFill>
              </a:rPr>
              <a:t>5</a:t>
            </a: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13" name="Rectangle 12">
            <a:extLst>
              <a:ext uri="{FF2B5EF4-FFF2-40B4-BE49-F238E27FC236}">
                <a16:creationId xmlns:a16="http://schemas.microsoft.com/office/drawing/2014/main" id="{4EDDCBA4-2E61-3DC9-0037-7AB87C5DC00B}"/>
              </a:ext>
              <a:ext uri="{C183D7F6-B498-43B3-948B-1728B52AA6E4}">
                <adec:decorative xmlns:adec="http://schemas.microsoft.com/office/drawing/2017/decorative" val="1"/>
              </a:ext>
            </a:extLst>
          </p:cNvPr>
          <p:cNvSpPr/>
          <p:nvPr/>
        </p:nvSpPr>
        <p:spPr>
          <a:xfrm>
            <a:off x="640373" y="1320762"/>
            <a:ext cx="3720612" cy="4216475"/>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Oval 9">
            <a:extLst>
              <a:ext uri="{FF2B5EF4-FFF2-40B4-BE49-F238E27FC236}">
                <a16:creationId xmlns:a16="http://schemas.microsoft.com/office/drawing/2014/main" id="{177186D4-90F2-4ACB-7F86-40B7F3AC9E7D}"/>
              </a:ext>
              <a:ext uri="{C183D7F6-B498-43B3-948B-1728B52AA6E4}">
                <adec:decorative xmlns:adec="http://schemas.microsoft.com/office/drawing/2017/decorative" val="1"/>
              </a:ext>
            </a:extLst>
          </p:cNvPr>
          <p:cNvSpPr/>
          <p:nvPr/>
        </p:nvSpPr>
        <p:spPr>
          <a:xfrm>
            <a:off x="1824288" y="545375"/>
            <a:ext cx="1352782" cy="1301647"/>
          </a:xfrm>
          <a:prstGeom prst="ellipse">
            <a:avLst/>
          </a:prstGeom>
          <a:solidFill>
            <a:schemeClr val="tx1">
              <a:lumMod val="50000"/>
              <a:lumOff val="50000"/>
            </a:schemeClr>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9C2EC3F-1235-3071-90A6-80396FC4DE88}"/>
              </a:ext>
              <a:ext uri="{C183D7F6-B498-43B3-948B-1728B52AA6E4}">
                <adec:decorative xmlns:adec="http://schemas.microsoft.com/office/drawing/2017/decorative" val="1"/>
              </a:ext>
            </a:extLst>
          </p:cNvPr>
          <p:cNvSpPr/>
          <p:nvPr/>
        </p:nvSpPr>
        <p:spPr>
          <a:xfrm>
            <a:off x="5580881" y="3752329"/>
            <a:ext cx="5757762" cy="2486546"/>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A9DB5F1B-7C9B-3970-53E6-3E8C73B47A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8796" y="3891568"/>
            <a:ext cx="5554528" cy="2204953"/>
          </a:xfrm>
          <a:prstGeom prst="rect">
            <a:avLst/>
          </a:prstGeom>
        </p:spPr>
      </p:pic>
      <p:pic>
        <p:nvPicPr>
          <p:cNvPr id="7" name="Picture 6">
            <a:extLst>
              <a:ext uri="{FF2B5EF4-FFF2-40B4-BE49-F238E27FC236}">
                <a16:creationId xmlns:a16="http://schemas.microsoft.com/office/drawing/2014/main" id="{C96508F7-2E57-D84E-6878-ACEB1485BA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8796" y="930506"/>
            <a:ext cx="5554528" cy="2586262"/>
          </a:xfrm>
          <a:prstGeom prst="rect">
            <a:avLst/>
          </a:prstGeom>
        </p:spPr>
      </p:pic>
      <p:pic>
        <p:nvPicPr>
          <p:cNvPr id="1026" name="Picture 2" descr="Download The Rolling Stones Five - Mick Jagger Transparent PNG Image with No  Background - PNGkey.com">
            <a:extLst>
              <a:ext uri="{FF2B5EF4-FFF2-40B4-BE49-F238E27FC236}">
                <a16:creationId xmlns:a16="http://schemas.microsoft.com/office/drawing/2014/main" id="{B989C7BF-9859-3EE7-7F3B-141CD6F3E41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57701" y="4634921"/>
            <a:ext cx="1885954" cy="121832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olling Stones Png Logo - Free Transparent PNG Logos">
            <a:extLst>
              <a:ext uri="{FF2B5EF4-FFF2-40B4-BE49-F238E27FC236}">
                <a16:creationId xmlns:a16="http://schemas.microsoft.com/office/drawing/2014/main" id="{900C355E-1235-0E60-EC0B-0E5D65D8EF3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29709" y="785151"/>
            <a:ext cx="741940" cy="82209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CA797C7-8203-97DB-E019-C8A33D209147}"/>
              </a:ext>
            </a:extLst>
          </p:cNvPr>
          <p:cNvSpPr txBox="1"/>
          <p:nvPr/>
        </p:nvSpPr>
        <p:spPr>
          <a:xfrm>
            <a:off x="1031156" y="2195073"/>
            <a:ext cx="2939045" cy="2308324"/>
          </a:xfrm>
          <a:prstGeom prst="rect">
            <a:avLst/>
          </a:prstGeom>
          <a:noFill/>
        </p:spPr>
        <p:txBody>
          <a:bodyPr wrap="square" rtlCol="0">
            <a:spAutoFit/>
          </a:bodyPr>
          <a:lstStyle/>
          <a:p>
            <a:pPr algn="ctr"/>
            <a:r>
              <a:rPr lang="en-US" dirty="0">
                <a:solidFill>
                  <a:schemeClr val="tx1"/>
                </a:solidFill>
              </a:rPr>
              <a:t>Disney opted to save a purported $10M in the 1990s by choosing Aerosmith over the Rolling Stones for their Rock ‘n’ Rollercoaster theme, despite the difference in popularity. </a:t>
            </a:r>
          </a:p>
          <a:p>
            <a:pPr algn="ctr"/>
            <a:endParaRPr lang="en-US" dirty="0"/>
          </a:p>
        </p:txBody>
      </p:sp>
      <p:pic>
        <p:nvPicPr>
          <p:cNvPr id="6" name="Picture 5">
            <a:extLst>
              <a:ext uri="{FF2B5EF4-FFF2-40B4-BE49-F238E27FC236}">
                <a16:creationId xmlns:a16="http://schemas.microsoft.com/office/drawing/2014/main" id="{B53CAB54-621F-B1FA-7E74-5B584191940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64687" y="4154365"/>
            <a:ext cx="1768425" cy="1847022"/>
          </a:xfrm>
          <a:prstGeom prst="rect">
            <a:avLst/>
          </a:prstGeom>
        </p:spPr>
      </p:pic>
    </p:spTree>
    <p:extLst>
      <p:ext uri="{BB962C8B-B14F-4D97-AF65-F5344CB8AC3E}">
        <p14:creationId xmlns:p14="http://schemas.microsoft.com/office/powerpoint/2010/main" val="3955809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38" name="Freeform 37">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2" name="TextBox 41"/>
          <p:cNvSpPr txBox="1"/>
          <p:nvPr/>
        </p:nvSpPr>
        <p:spPr>
          <a:xfrm>
            <a:off x="11907454" y="6481180"/>
            <a:ext cx="277640" cy="307777"/>
          </a:xfrm>
          <a:prstGeom prst="rect">
            <a:avLst/>
          </a:prstGeom>
          <a:noFill/>
        </p:spPr>
        <p:txBody>
          <a:bodyPr wrap="none" rtlCol="0">
            <a:spAutoFit/>
          </a:bodyPr>
          <a:lstStyle/>
          <a:p>
            <a:r>
              <a:rPr lang="en-US" sz="1400" b="1" dirty="0">
                <a:solidFill>
                  <a:schemeClr val="bg1"/>
                </a:solidFill>
              </a:rPr>
              <a:t>6</a:t>
            </a:r>
          </a:p>
        </p:txBody>
      </p:sp>
      <p:sp>
        <p:nvSpPr>
          <p:cNvPr id="98" name="Rectangle 97">
            <a:extLst>
              <a:ext uri="{C183D7F6-B498-43B3-948B-1728B52AA6E4}">
                <adec:decorative xmlns:adec="http://schemas.microsoft.com/office/drawing/2017/decorative" val="1"/>
              </a:ext>
            </a:extLst>
          </p:cNvPr>
          <p:cNvSpPr/>
          <p:nvPr/>
        </p:nvSpPr>
        <p:spPr>
          <a:xfrm rot="5400000">
            <a:off x="3893613" y="2029102"/>
            <a:ext cx="3865361" cy="3406902"/>
          </a:xfrm>
          <a:prstGeom prst="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a:extLst>
              <a:ext uri="{C183D7F6-B498-43B3-948B-1728B52AA6E4}">
                <adec:decorative xmlns:adec="http://schemas.microsoft.com/office/drawing/2017/decorative" val="1"/>
              </a:ext>
            </a:extLst>
          </p:cNvPr>
          <p:cNvSpPr/>
          <p:nvPr/>
        </p:nvSpPr>
        <p:spPr>
          <a:xfrm>
            <a:off x="5327625" y="1290842"/>
            <a:ext cx="1011618" cy="1018061"/>
          </a:xfrm>
          <a:prstGeom prst="ellipse">
            <a:avLst/>
          </a:prstGeom>
          <a:solidFill>
            <a:srgbClr val="BABABA"/>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FAEF1C8-817C-4EBC-A4FB-3ED2DB7FCBF8}"/>
              </a:ext>
            </a:extLst>
          </p:cNvPr>
          <p:cNvSpPr txBox="1"/>
          <p:nvPr/>
        </p:nvSpPr>
        <p:spPr>
          <a:xfrm>
            <a:off x="3316401" y="165381"/>
            <a:ext cx="5559214" cy="492443"/>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mj-lt"/>
              </a:rPr>
              <a:t>BACKUP: TRADITIONAL DATA</a:t>
            </a:r>
          </a:p>
        </p:txBody>
      </p:sp>
      <p:sp>
        <p:nvSpPr>
          <p:cNvPr id="2" name="Title 1" hidden="1">
            <a:extLst>
              <a:ext uri="{FF2B5EF4-FFF2-40B4-BE49-F238E27FC236}">
                <a16:creationId xmlns:a16="http://schemas.microsoft.com/office/drawing/2014/main" id="{8BD7D413-936A-4A2D-83E0-6714C8DB077C}"/>
              </a:ext>
            </a:extLst>
          </p:cNvPr>
          <p:cNvSpPr>
            <a:spLocks noGrp="1"/>
          </p:cNvSpPr>
          <p:nvPr>
            <p:ph type="title"/>
          </p:nvPr>
        </p:nvSpPr>
        <p:spPr/>
        <p:txBody>
          <a:bodyPr/>
          <a:lstStyle/>
          <a:p>
            <a:r>
              <a:rPr lang="en-US" dirty="0"/>
              <a:t>Slide 4</a:t>
            </a:r>
          </a:p>
        </p:txBody>
      </p:sp>
      <p:sp>
        <p:nvSpPr>
          <p:cNvPr id="12" name="Rectangle 11">
            <a:extLst>
              <a:ext uri="{FF2B5EF4-FFF2-40B4-BE49-F238E27FC236}">
                <a16:creationId xmlns:a16="http://schemas.microsoft.com/office/drawing/2014/main" id="{81A24EB7-6A1E-397B-83C4-646875E8AC81}"/>
              </a:ext>
              <a:ext uri="{C183D7F6-B498-43B3-948B-1728B52AA6E4}">
                <adec:decorative xmlns:adec="http://schemas.microsoft.com/office/drawing/2017/decorative" val="1"/>
              </a:ext>
            </a:extLst>
          </p:cNvPr>
          <p:cNvSpPr/>
          <p:nvPr/>
        </p:nvSpPr>
        <p:spPr>
          <a:xfrm>
            <a:off x="8074595" y="2278623"/>
            <a:ext cx="3655723" cy="274741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13" name="Picture 12" descr="Chart, bar chart&#10;&#10;Description automatically generated">
            <a:extLst>
              <a:ext uri="{FF2B5EF4-FFF2-40B4-BE49-F238E27FC236}">
                <a16:creationId xmlns:a16="http://schemas.microsoft.com/office/drawing/2014/main" id="{20406D94-E4F0-9C3B-0F1B-D6B7F516DD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8153" y="2386438"/>
            <a:ext cx="3406903" cy="2528561"/>
          </a:xfrm>
          <a:prstGeom prst="rect">
            <a:avLst/>
          </a:prstGeom>
        </p:spPr>
      </p:pic>
      <p:sp>
        <p:nvSpPr>
          <p:cNvPr id="15" name="TextBox 14">
            <a:extLst>
              <a:ext uri="{FF2B5EF4-FFF2-40B4-BE49-F238E27FC236}">
                <a16:creationId xmlns:a16="http://schemas.microsoft.com/office/drawing/2014/main" id="{E41255D1-9B55-D547-F59A-9C3DAE1B6F2A}"/>
              </a:ext>
            </a:extLst>
          </p:cNvPr>
          <p:cNvSpPr txBox="1"/>
          <p:nvPr/>
        </p:nvSpPr>
        <p:spPr>
          <a:xfrm>
            <a:off x="4476121" y="2440711"/>
            <a:ext cx="2714626" cy="2585323"/>
          </a:xfrm>
          <a:prstGeom prst="rect">
            <a:avLst/>
          </a:prstGeom>
          <a:noFill/>
        </p:spPr>
        <p:txBody>
          <a:bodyPr wrap="square" lIns="0" tIns="0" rIns="0" bIns="0" rtlCol="0">
            <a:spAutoFit/>
          </a:bodyPr>
          <a:lstStyle/>
          <a:p>
            <a:pPr algn="ctr"/>
            <a:r>
              <a:rPr lang="en-US" sz="1400" dirty="0"/>
              <a:t>Ride rankings from </a:t>
            </a:r>
            <a:r>
              <a:rPr lang="en-US" sz="1400" dirty="0" err="1"/>
              <a:t>CaptainCoaster</a:t>
            </a:r>
            <a:r>
              <a:rPr lang="en-US" sz="1400" dirty="0"/>
              <a:t> show that even modest coasters that are highly themed can successfully compete with wild thrill rides.</a:t>
            </a:r>
          </a:p>
          <a:p>
            <a:pPr algn="ctr"/>
            <a:endParaRPr lang="en-US" sz="1400" dirty="0"/>
          </a:p>
          <a:p>
            <a:pPr algn="ctr"/>
            <a:r>
              <a:rPr lang="en-US" sz="1400" dirty="0"/>
              <a:t>Restaurant reviews from TripAdvisor and Yelp corroborate the Google Trends data. There are more restaurant reviews in themed lands than in the vicinity of non-themed attractions.</a:t>
            </a:r>
          </a:p>
        </p:txBody>
      </p:sp>
      <p:pic>
        <p:nvPicPr>
          <p:cNvPr id="3" name="Picture 2">
            <a:extLst>
              <a:ext uri="{FF2B5EF4-FFF2-40B4-BE49-F238E27FC236}">
                <a16:creationId xmlns:a16="http://schemas.microsoft.com/office/drawing/2014/main" id="{67307A62-3E01-2D4E-38A3-70DD740F06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67793" y="4879072"/>
            <a:ext cx="500821" cy="20248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ripadvisor Logo, symbol, meaning, history, PNG">
            <a:extLst>
              <a:ext uri="{FF2B5EF4-FFF2-40B4-BE49-F238E27FC236}">
                <a16:creationId xmlns:a16="http://schemas.microsoft.com/office/drawing/2014/main" id="{5048B605-B2F3-E855-46A8-B270A08A9A9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51341" y="4746958"/>
            <a:ext cx="847133" cy="476512"/>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1085DAE8-AEAD-E981-FAF9-F68A41D65FEE}"/>
              </a:ext>
              <a:ext uri="{C183D7F6-B498-43B3-948B-1728B52AA6E4}">
                <adec:decorative xmlns:adec="http://schemas.microsoft.com/office/drawing/2017/decorative" val="1"/>
              </a:ext>
            </a:extLst>
          </p:cNvPr>
          <p:cNvSpPr/>
          <p:nvPr/>
        </p:nvSpPr>
        <p:spPr>
          <a:xfrm>
            <a:off x="5327625" y="5156204"/>
            <a:ext cx="1011618" cy="1018061"/>
          </a:xfrm>
          <a:prstGeom prst="ellipse">
            <a:avLst/>
          </a:prstGeom>
          <a:solidFill>
            <a:srgbClr val="BABABA"/>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2">
            <a:extLst>
              <a:ext uri="{FF2B5EF4-FFF2-40B4-BE49-F238E27FC236}">
                <a16:creationId xmlns:a16="http://schemas.microsoft.com/office/drawing/2014/main" id="{7A40A328-C4F9-601F-8520-08D9ABDFD98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79789" y="5211589"/>
            <a:ext cx="907290" cy="90729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unny Gifs : roller coaster GIF - VSGIF.com">
            <a:extLst>
              <a:ext uri="{FF2B5EF4-FFF2-40B4-BE49-F238E27FC236}">
                <a16:creationId xmlns:a16="http://schemas.microsoft.com/office/drawing/2014/main" id="{E58D9627-1295-7C7B-98D6-2FF163008F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5378" y="1145872"/>
            <a:ext cx="1156112" cy="1156112"/>
          </a:xfrm>
          <a:prstGeom prst="rect">
            <a:avLst/>
          </a:prstGeom>
          <a:noFill/>
          <a:extLst>
            <a:ext uri="{909E8E84-426E-40DD-AFC4-6F175D3DCCD1}">
              <a14:hiddenFill xmlns:a14="http://schemas.microsoft.com/office/drawing/2010/main">
                <a:solidFill>
                  <a:srgbClr val="FFFFFF"/>
                </a:solidFill>
              </a14:hiddenFill>
            </a:ext>
          </a:extLst>
        </p:spPr>
      </p:pic>
      <p:sp>
        <p:nvSpPr>
          <p:cNvPr id="27" name="Freeform 5">
            <a:extLst>
              <a:ext uri="{FF2B5EF4-FFF2-40B4-BE49-F238E27FC236}">
                <a16:creationId xmlns:a16="http://schemas.microsoft.com/office/drawing/2014/main" id="{5BD6CB93-6DF5-523D-A407-68769C34E9B6}"/>
              </a:ext>
            </a:extLst>
          </p:cNvPr>
          <p:cNvSpPr>
            <a:spLocks noEditPoints="1"/>
          </p:cNvSpPr>
          <p:nvPr/>
        </p:nvSpPr>
        <p:spPr bwMode="auto">
          <a:xfrm>
            <a:off x="7272030" y="4038959"/>
            <a:ext cx="854428" cy="380999"/>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29" name="Picture 28">
            <a:extLst>
              <a:ext uri="{FF2B5EF4-FFF2-40B4-BE49-F238E27FC236}">
                <a16:creationId xmlns:a16="http://schemas.microsoft.com/office/drawing/2014/main" id="{5B4E8400-3786-7CBB-BA1E-24802D6B792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8223" y="4539768"/>
            <a:ext cx="3141600" cy="1579111"/>
          </a:xfrm>
          <a:prstGeom prst="rect">
            <a:avLst/>
          </a:prstGeom>
        </p:spPr>
      </p:pic>
      <p:pic>
        <p:nvPicPr>
          <p:cNvPr id="36" name="Picture 35">
            <a:extLst>
              <a:ext uri="{FF2B5EF4-FFF2-40B4-BE49-F238E27FC236}">
                <a16:creationId xmlns:a16="http://schemas.microsoft.com/office/drawing/2014/main" id="{5A5A75F3-9ED1-E485-8652-CE823EAD8B54}"/>
              </a:ext>
            </a:extLst>
          </p:cNvPr>
          <p:cNvPicPr>
            <a:picLocks noChangeAspect="1"/>
          </p:cNvPicPr>
          <p:nvPr/>
        </p:nvPicPr>
        <p:blipFill>
          <a:blip r:embed="rId8"/>
          <a:stretch>
            <a:fillRect/>
          </a:stretch>
        </p:blipFill>
        <p:spPr>
          <a:xfrm>
            <a:off x="265484" y="1403988"/>
            <a:ext cx="3584933" cy="2837471"/>
          </a:xfrm>
          <a:prstGeom prst="rect">
            <a:avLst/>
          </a:prstGeom>
        </p:spPr>
      </p:pic>
      <p:sp>
        <p:nvSpPr>
          <p:cNvPr id="37" name="Freeform 5">
            <a:extLst>
              <a:ext uri="{FF2B5EF4-FFF2-40B4-BE49-F238E27FC236}">
                <a16:creationId xmlns:a16="http://schemas.microsoft.com/office/drawing/2014/main" id="{CBC4CFF9-12A0-7410-2E06-0E703BEC53AF}"/>
              </a:ext>
            </a:extLst>
          </p:cNvPr>
          <p:cNvSpPr>
            <a:spLocks noEditPoints="1"/>
          </p:cNvSpPr>
          <p:nvPr/>
        </p:nvSpPr>
        <p:spPr bwMode="auto">
          <a:xfrm>
            <a:off x="3669823" y="2453057"/>
            <a:ext cx="642803" cy="329708"/>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cxnSp>
        <p:nvCxnSpPr>
          <p:cNvPr id="41" name="Elbow Connector 3">
            <a:extLst>
              <a:ext uri="{FF2B5EF4-FFF2-40B4-BE49-F238E27FC236}">
                <a16:creationId xmlns:a16="http://schemas.microsoft.com/office/drawing/2014/main" id="{6135C4BE-D523-E9A1-915D-31CAC803A018}"/>
              </a:ext>
              <a:ext uri="{C183D7F6-B498-43B3-948B-1728B52AA6E4}">
                <adec:decorative xmlns:adec="http://schemas.microsoft.com/office/drawing/2017/decorative" val="1"/>
              </a:ext>
            </a:extLst>
          </p:cNvPr>
          <p:cNvCxnSpPr>
            <a:cxnSpLocks/>
          </p:cNvCxnSpPr>
          <p:nvPr/>
        </p:nvCxnSpPr>
        <p:spPr>
          <a:xfrm rot="16200000" flipV="1">
            <a:off x="1572535" y="4230747"/>
            <a:ext cx="310309" cy="307732"/>
          </a:xfrm>
          <a:prstGeom prst="bentConnector3">
            <a:avLst>
              <a:gd name="adj1" fmla="val 50000"/>
            </a:avLst>
          </a:prstGeom>
          <a:ln>
            <a:solidFill>
              <a:srgbClr val="303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348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104" name="Rectangle 103">
            <a:extLst>
              <a:ext uri="{C183D7F6-B498-43B3-948B-1728B52AA6E4}">
                <adec:decorative xmlns:adec="http://schemas.microsoft.com/office/drawing/2017/decorative" val="1"/>
              </a:ext>
            </a:extLst>
          </p:cNvPr>
          <p:cNvSpPr/>
          <p:nvPr/>
        </p:nvSpPr>
        <p:spPr>
          <a:xfrm>
            <a:off x="-151546" y="-4725"/>
            <a:ext cx="6096000" cy="6857999"/>
          </a:xfrm>
          <a:prstGeom prst="rect">
            <a:avLst/>
          </a:prstGeom>
          <a:solidFill>
            <a:srgbClr val="30353F">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C183D7F6-B498-43B3-948B-1728B52AA6E4}">
                <adec:decorative xmlns:adec="http://schemas.microsoft.com/office/drawing/2017/decorative" val="1"/>
              </a:ext>
            </a:extLst>
          </p:cNvPr>
          <p:cNvGrpSpPr/>
          <p:nvPr/>
        </p:nvGrpSpPr>
        <p:grpSpPr>
          <a:xfrm>
            <a:off x="9912263" y="3897569"/>
            <a:ext cx="1281512" cy="487738"/>
            <a:chOff x="9912263" y="3897569"/>
            <a:chExt cx="1281512" cy="487738"/>
          </a:xfrm>
          <a:effectLst>
            <a:outerShdw blurRad="50800" dist="38100" dir="8100000" algn="tr" rotWithShape="0">
              <a:prstClr val="black">
                <a:alpha val="40000"/>
              </a:prstClr>
            </a:outerShdw>
          </a:effectLst>
        </p:grpSpPr>
        <p:sp>
          <p:nvSpPr>
            <p:cNvPr id="53" name="Freeform 52"/>
            <p:cNvSpPr/>
            <p:nvPr/>
          </p:nvSpPr>
          <p:spPr>
            <a:xfrm flipH="1">
              <a:off x="9912263" y="3897569"/>
              <a:ext cx="1281512" cy="487738"/>
            </a:xfrm>
            <a:custGeom>
              <a:avLst/>
              <a:gdLst>
                <a:gd name="connsiteX0" fmla="*/ 1281512 w 1281512"/>
                <a:gd name="connsiteY0" fmla="*/ 0 h 487738"/>
                <a:gd name="connsiteX1" fmla="*/ 256995 w 1281512"/>
                <a:gd name="connsiteY1" fmla="*/ 0 h 487738"/>
                <a:gd name="connsiteX2" fmla="*/ 256995 w 1281512"/>
                <a:gd name="connsiteY2" fmla="*/ 1323 h 487738"/>
                <a:gd name="connsiteX3" fmla="*/ 243869 w 1281512"/>
                <a:gd name="connsiteY3" fmla="*/ 0 h 487738"/>
                <a:gd name="connsiteX4" fmla="*/ 0 w 1281512"/>
                <a:gd name="connsiteY4" fmla="*/ 243869 h 487738"/>
                <a:gd name="connsiteX5" fmla="*/ 243869 w 1281512"/>
                <a:gd name="connsiteY5" fmla="*/ 487738 h 487738"/>
                <a:gd name="connsiteX6" fmla="*/ 256995 w 1281512"/>
                <a:gd name="connsiteY6" fmla="*/ 486415 h 487738"/>
                <a:gd name="connsiteX7" fmla="*/ 256995 w 1281512"/>
                <a:gd name="connsiteY7" fmla="*/ 487737 h 487738"/>
                <a:gd name="connsiteX8" fmla="*/ 1281512 w 1281512"/>
                <a:gd name="connsiteY8" fmla="*/ 487737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512" h="487738">
                  <a:moveTo>
                    <a:pt x="1281512" y="0"/>
                  </a:moveTo>
                  <a:lnTo>
                    <a:pt x="256995" y="0"/>
                  </a:lnTo>
                  <a:lnTo>
                    <a:pt x="256995" y="1323"/>
                  </a:lnTo>
                  <a:lnTo>
                    <a:pt x="243869" y="0"/>
                  </a:lnTo>
                  <a:cubicBezTo>
                    <a:pt x="109184" y="0"/>
                    <a:pt x="0" y="109184"/>
                    <a:pt x="0" y="243869"/>
                  </a:cubicBezTo>
                  <a:cubicBezTo>
                    <a:pt x="0" y="378554"/>
                    <a:pt x="109184" y="487738"/>
                    <a:pt x="243869" y="487738"/>
                  </a:cubicBezTo>
                  <a:lnTo>
                    <a:pt x="256995" y="486415"/>
                  </a:lnTo>
                  <a:lnTo>
                    <a:pt x="256995" y="487737"/>
                  </a:lnTo>
                  <a:lnTo>
                    <a:pt x="1281512" y="487737"/>
                  </a:lnTo>
                  <a:close/>
                </a:path>
              </a:pathLst>
            </a:custGeom>
            <a:solidFill>
              <a:srgbClr val="4FD0D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0" name="Group 39"/>
            <p:cNvGrpSpPr/>
            <p:nvPr/>
          </p:nvGrpSpPr>
          <p:grpSpPr>
            <a:xfrm>
              <a:off x="10813249" y="4076466"/>
              <a:ext cx="273316" cy="129944"/>
              <a:chOff x="4254500" y="2100263"/>
              <a:chExt cx="1906588" cy="906463"/>
            </a:xfrm>
          </p:grpSpPr>
          <p:sp>
            <p:nvSpPr>
              <p:cNvPr id="41" name="Freeform 5"/>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6"/>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7"/>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pic>
        <p:nvPicPr>
          <p:cNvPr id="4" name="Picture 3">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4598" y="860212"/>
            <a:ext cx="8975028" cy="5521746"/>
          </a:xfrm>
          <a:prstGeom prst="rect">
            <a:avLst/>
          </a:prstGeom>
        </p:spPr>
      </p:pic>
      <p:sp>
        <p:nvSpPr>
          <p:cNvPr id="2" name="Freeform 1">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 name="TextBox 2"/>
          <p:cNvSpPr txBox="1"/>
          <p:nvPr/>
        </p:nvSpPr>
        <p:spPr>
          <a:xfrm>
            <a:off x="11857440" y="6481180"/>
            <a:ext cx="277640" cy="307777"/>
          </a:xfrm>
          <a:prstGeom prst="rect">
            <a:avLst/>
          </a:prstGeom>
          <a:noFill/>
        </p:spPr>
        <p:txBody>
          <a:bodyPr wrap="none" rtlCol="0">
            <a:spAutoFit/>
          </a:bodyPr>
          <a:lstStyle/>
          <a:p>
            <a:r>
              <a:rPr lang="en-US" sz="1400" b="1" dirty="0">
                <a:solidFill>
                  <a:schemeClr val="bg1"/>
                </a:solidFill>
              </a:rPr>
              <a:t>7</a:t>
            </a:r>
          </a:p>
        </p:txBody>
      </p:sp>
      <p:sp>
        <p:nvSpPr>
          <p:cNvPr id="102" name="TextBox 101"/>
          <p:cNvSpPr txBox="1"/>
          <p:nvPr/>
        </p:nvSpPr>
        <p:spPr>
          <a:xfrm>
            <a:off x="619825" y="1880532"/>
            <a:ext cx="2596161" cy="2769989"/>
          </a:xfrm>
          <a:prstGeom prst="rect">
            <a:avLst/>
          </a:prstGeom>
          <a:noFill/>
        </p:spPr>
        <p:txBody>
          <a:bodyPr wrap="square" lIns="0" tIns="0" rIns="0" bIns="0" rtlCol="0">
            <a:spAutoFit/>
          </a:bodyPr>
          <a:lstStyle/>
          <a:p>
            <a:pPr algn="ctr"/>
            <a:r>
              <a:rPr lang="en-US" dirty="0">
                <a:solidFill>
                  <a:schemeClr val="bg1"/>
                </a:solidFill>
              </a:rPr>
              <a:t>The dramatic rise of attendance in Islands of Adventure and Universal Studios Florida compared to their competition follows the introduction of the themed land, the Wizarding World of Harry Potter Hogsmeade in 2010 and Diagon Alley in 2014.</a:t>
            </a:r>
          </a:p>
        </p:txBody>
      </p:sp>
      <p:sp>
        <p:nvSpPr>
          <p:cNvPr id="103" name="TextBox 102"/>
          <p:cNvSpPr txBox="1"/>
          <p:nvPr/>
        </p:nvSpPr>
        <p:spPr>
          <a:xfrm>
            <a:off x="199851" y="477227"/>
            <a:ext cx="5152339" cy="492443"/>
          </a:xfrm>
          <a:prstGeom prst="rect">
            <a:avLst/>
          </a:prstGeom>
          <a:noFill/>
        </p:spPr>
        <p:txBody>
          <a:bodyPr wrap="square" lIns="0" tIns="0" rIns="0" bIns="0" rtlCol="0">
            <a:spAutoFit/>
          </a:bodyPr>
          <a:lstStyle/>
          <a:p>
            <a:pPr algn="ctr">
              <a:tabLst>
                <a:tab pos="347663" algn="l"/>
              </a:tabLst>
            </a:pPr>
            <a:r>
              <a:rPr lang="en-US" sz="3200" b="1" dirty="0">
                <a:solidFill>
                  <a:srgbClr val="FFFFFF"/>
                </a:solidFill>
                <a:latin typeface="+mj-lt"/>
              </a:rPr>
              <a:t>ATTENDANCE = REVENUE</a:t>
            </a:r>
          </a:p>
        </p:txBody>
      </p:sp>
      <p:cxnSp>
        <p:nvCxnSpPr>
          <p:cNvPr id="105" name="Straight Connector 104">
            <a:extLst>
              <a:ext uri="{C183D7F6-B498-43B3-948B-1728B52AA6E4}">
                <adec:decorative xmlns:adec="http://schemas.microsoft.com/office/drawing/2017/decorative" val="1"/>
              </a:ext>
            </a:extLst>
          </p:cNvPr>
          <p:cNvCxnSpPr>
            <a:cxnSpLocks/>
          </p:cNvCxnSpPr>
          <p:nvPr/>
        </p:nvCxnSpPr>
        <p:spPr>
          <a:xfrm>
            <a:off x="559336" y="1577516"/>
            <a:ext cx="2779627"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4" name="Group 33">
            <a:extLst>
              <a:ext uri="{C183D7F6-B498-43B3-948B-1728B52AA6E4}">
                <adec:decorative xmlns:adec="http://schemas.microsoft.com/office/drawing/2017/decorative" val="1"/>
              </a:ext>
            </a:extLst>
          </p:cNvPr>
          <p:cNvGrpSpPr/>
          <p:nvPr/>
        </p:nvGrpSpPr>
        <p:grpSpPr>
          <a:xfrm>
            <a:off x="8881068" y="3621085"/>
            <a:ext cx="414478" cy="197058"/>
            <a:chOff x="4254500" y="2100263"/>
            <a:chExt cx="1906588" cy="906463"/>
          </a:xfrm>
        </p:grpSpPr>
        <p:sp>
          <p:nvSpPr>
            <p:cNvPr id="35" name="Freeform 5"/>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6"/>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7"/>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 name="Title 4" hidden="1">
            <a:extLst>
              <a:ext uri="{FF2B5EF4-FFF2-40B4-BE49-F238E27FC236}">
                <a16:creationId xmlns:a16="http://schemas.microsoft.com/office/drawing/2014/main" id="{B353CF45-7FD3-4F2B-B046-D14200DBD7E2}"/>
              </a:ext>
            </a:extLst>
          </p:cNvPr>
          <p:cNvSpPr>
            <a:spLocks noGrp="1"/>
          </p:cNvSpPr>
          <p:nvPr>
            <p:ph type="title"/>
          </p:nvPr>
        </p:nvSpPr>
        <p:spPr/>
        <p:txBody>
          <a:bodyPr/>
          <a:lstStyle/>
          <a:p>
            <a:r>
              <a:rPr lang="en-US" dirty="0"/>
              <a:t>Slide 10</a:t>
            </a:r>
          </a:p>
        </p:txBody>
      </p:sp>
      <p:pic>
        <p:nvPicPr>
          <p:cNvPr id="10" name="Picture 9" descr="Chart, line chart&#10;&#10;Description automatically generated">
            <a:extLst>
              <a:ext uri="{FF2B5EF4-FFF2-40B4-BE49-F238E27FC236}">
                <a16:creationId xmlns:a16="http://schemas.microsoft.com/office/drawing/2014/main" id="{F766EB37-97BF-EB92-878C-33DD60760E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30311" y="1577515"/>
            <a:ext cx="5677010" cy="3565983"/>
          </a:xfrm>
          <a:prstGeom prst="rect">
            <a:avLst/>
          </a:prstGeom>
        </p:spPr>
      </p:pic>
    </p:spTree>
    <p:extLst>
      <p:ext uri="{BB962C8B-B14F-4D97-AF65-F5344CB8AC3E}">
        <p14:creationId xmlns:p14="http://schemas.microsoft.com/office/powerpoint/2010/main" val="2420142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20" name="Freeform 19">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21" name="TextBox 20"/>
          <p:cNvSpPr txBox="1"/>
          <p:nvPr/>
        </p:nvSpPr>
        <p:spPr>
          <a:xfrm>
            <a:off x="11907454" y="6481180"/>
            <a:ext cx="277640" cy="307777"/>
          </a:xfrm>
          <a:prstGeom prst="rect">
            <a:avLst/>
          </a:prstGeom>
          <a:noFill/>
        </p:spPr>
        <p:txBody>
          <a:bodyPr wrap="none" rtlCol="0">
            <a:spAutoFit/>
          </a:bodyPr>
          <a:lstStyle/>
          <a:p>
            <a:r>
              <a:rPr lang="en-US" sz="1400" b="1" dirty="0">
                <a:solidFill>
                  <a:schemeClr val="bg1"/>
                </a:solidFill>
              </a:rPr>
              <a:t>8</a:t>
            </a:r>
          </a:p>
        </p:txBody>
      </p:sp>
      <p:sp>
        <p:nvSpPr>
          <p:cNvPr id="83" name="TextBox 82">
            <a:extLst>
              <a:ext uri="{FF2B5EF4-FFF2-40B4-BE49-F238E27FC236}">
                <a16:creationId xmlns:a16="http://schemas.microsoft.com/office/drawing/2014/main" id="{DCD843C5-0DBD-4721-ACAD-288CC256EF82}"/>
              </a:ext>
            </a:extLst>
          </p:cNvPr>
          <p:cNvSpPr txBox="1"/>
          <p:nvPr/>
        </p:nvSpPr>
        <p:spPr>
          <a:xfrm>
            <a:off x="3110357" y="413031"/>
            <a:ext cx="5788444" cy="492443"/>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mj-lt"/>
              </a:rPr>
              <a:t>WHAT DATA SCIENCE TELLS US</a:t>
            </a:r>
          </a:p>
        </p:txBody>
      </p:sp>
      <p:sp>
        <p:nvSpPr>
          <p:cNvPr id="4" name="Title 3" hidden="1">
            <a:extLst>
              <a:ext uri="{FF2B5EF4-FFF2-40B4-BE49-F238E27FC236}">
                <a16:creationId xmlns:a16="http://schemas.microsoft.com/office/drawing/2014/main" id="{19D7E498-2D9B-4F60-93FF-25DEC5873336}"/>
              </a:ext>
            </a:extLst>
          </p:cNvPr>
          <p:cNvSpPr>
            <a:spLocks noGrp="1"/>
          </p:cNvSpPr>
          <p:nvPr>
            <p:ph type="title"/>
          </p:nvPr>
        </p:nvSpPr>
        <p:spPr/>
        <p:txBody>
          <a:bodyPr/>
          <a:lstStyle/>
          <a:p>
            <a:r>
              <a:rPr lang="en-US" dirty="0"/>
              <a:t>Slide 3</a:t>
            </a:r>
          </a:p>
        </p:txBody>
      </p:sp>
      <p:sp>
        <p:nvSpPr>
          <p:cNvPr id="18" name="Rectangle 17">
            <a:extLst>
              <a:ext uri="{FF2B5EF4-FFF2-40B4-BE49-F238E27FC236}">
                <a16:creationId xmlns:a16="http://schemas.microsoft.com/office/drawing/2014/main" id="{EE66524E-60BD-3DB2-8275-8C8D96DF6605}"/>
              </a:ext>
              <a:ext uri="{C183D7F6-B498-43B3-948B-1728B52AA6E4}">
                <adec:decorative xmlns:adec="http://schemas.microsoft.com/office/drawing/2017/decorative" val="1"/>
              </a:ext>
            </a:extLst>
          </p:cNvPr>
          <p:cNvSpPr/>
          <p:nvPr/>
        </p:nvSpPr>
        <p:spPr>
          <a:xfrm>
            <a:off x="2760288" y="1728365"/>
            <a:ext cx="7164762" cy="1301647"/>
          </a:xfrm>
          <a:prstGeom prst="rect">
            <a:avLst/>
          </a:prstGeom>
          <a:gradFill flip="none" rotWithShape="1">
            <a:gsLst>
              <a:gs pos="100000">
                <a:schemeClr val="bg1"/>
              </a:gs>
              <a:gs pos="54000">
                <a:srgbClr val="515A6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DF380668-E9C0-36AF-CF3A-725A36B47E7F}"/>
              </a:ext>
              <a:ext uri="{C183D7F6-B498-43B3-948B-1728B52AA6E4}">
                <adec:decorative xmlns:adec="http://schemas.microsoft.com/office/drawing/2017/decorative" val="1"/>
              </a:ext>
            </a:extLst>
          </p:cNvPr>
          <p:cNvSpPr/>
          <p:nvPr/>
        </p:nvSpPr>
        <p:spPr>
          <a:xfrm>
            <a:off x="2083897" y="1728365"/>
            <a:ext cx="1352782" cy="1301647"/>
          </a:xfrm>
          <a:prstGeom prst="ellipse">
            <a:avLst/>
          </a:prstGeom>
          <a:solidFill>
            <a:srgbClr val="30353F"/>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C017D53-4D42-D836-35F6-665E64833584}"/>
              </a:ext>
            </a:extLst>
          </p:cNvPr>
          <p:cNvSpPr txBox="1"/>
          <p:nvPr/>
        </p:nvSpPr>
        <p:spPr>
          <a:xfrm>
            <a:off x="1938210" y="2071411"/>
            <a:ext cx="8169893" cy="615553"/>
          </a:xfrm>
          <a:prstGeom prst="rect">
            <a:avLst/>
          </a:prstGeom>
          <a:noFill/>
        </p:spPr>
        <p:txBody>
          <a:bodyPr wrap="square" lIns="0" tIns="0" rIns="0" bIns="0" rtlCol="0">
            <a:spAutoFit/>
          </a:bodyPr>
          <a:lstStyle/>
          <a:p>
            <a:pPr algn="ctr"/>
            <a:r>
              <a:rPr lang="en-US" sz="4000" dirty="0">
                <a:solidFill>
                  <a:schemeClr val="bg1"/>
                </a:solidFill>
              </a:rPr>
              <a:t>Market Globally</a:t>
            </a:r>
          </a:p>
        </p:txBody>
      </p:sp>
      <p:sp>
        <p:nvSpPr>
          <p:cNvPr id="28" name="Rectangle 27">
            <a:extLst>
              <a:ext uri="{FF2B5EF4-FFF2-40B4-BE49-F238E27FC236}">
                <a16:creationId xmlns:a16="http://schemas.microsoft.com/office/drawing/2014/main" id="{00FE6DA2-491D-42DB-8311-5E961F341745}"/>
              </a:ext>
            </a:extLst>
          </p:cNvPr>
          <p:cNvSpPr/>
          <p:nvPr/>
        </p:nvSpPr>
        <p:spPr>
          <a:xfrm>
            <a:off x="2867025" y="3341406"/>
            <a:ext cx="7058025" cy="1306793"/>
          </a:xfrm>
          <a:prstGeom prst="rect">
            <a:avLst/>
          </a:prstGeom>
          <a:gradFill flip="none" rotWithShape="1">
            <a:gsLst>
              <a:gs pos="100000">
                <a:schemeClr val="bg1"/>
              </a:gs>
              <a:gs pos="54000">
                <a:srgbClr val="DBDB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5745947D-634F-EBA3-67E0-0B8A71823EE0}"/>
              </a:ext>
            </a:extLst>
          </p:cNvPr>
          <p:cNvSpPr txBox="1"/>
          <p:nvPr/>
        </p:nvSpPr>
        <p:spPr>
          <a:xfrm>
            <a:off x="3663389" y="3670846"/>
            <a:ext cx="5053723" cy="615553"/>
          </a:xfrm>
          <a:prstGeom prst="rect">
            <a:avLst/>
          </a:prstGeom>
          <a:noFill/>
        </p:spPr>
        <p:txBody>
          <a:bodyPr wrap="square" lIns="0" tIns="0" rIns="0" bIns="0" rtlCol="0">
            <a:spAutoFit/>
          </a:bodyPr>
          <a:lstStyle/>
          <a:p>
            <a:pPr algn="ctr"/>
            <a:r>
              <a:rPr lang="en-US" sz="4000" dirty="0"/>
              <a:t>Execution Matters</a:t>
            </a:r>
          </a:p>
        </p:txBody>
      </p:sp>
      <p:sp>
        <p:nvSpPr>
          <p:cNvPr id="30" name="Oval 29">
            <a:extLst>
              <a:ext uri="{FF2B5EF4-FFF2-40B4-BE49-F238E27FC236}">
                <a16:creationId xmlns:a16="http://schemas.microsoft.com/office/drawing/2014/main" id="{1EA8C91F-84E5-0C26-8B61-C7662AA6CDCC}"/>
              </a:ext>
            </a:extLst>
          </p:cNvPr>
          <p:cNvSpPr/>
          <p:nvPr/>
        </p:nvSpPr>
        <p:spPr>
          <a:xfrm>
            <a:off x="2083897" y="3325225"/>
            <a:ext cx="1352781" cy="1306793"/>
          </a:xfrm>
          <a:prstGeom prst="ellipse">
            <a:avLst/>
          </a:prstGeom>
          <a:solidFill>
            <a:srgbClr val="CFCFCF"/>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ACDDC2D5-1633-9748-7D0B-29A91E583BB1}"/>
              </a:ext>
            </a:extLst>
          </p:cNvPr>
          <p:cNvSpPr/>
          <p:nvPr/>
        </p:nvSpPr>
        <p:spPr>
          <a:xfrm>
            <a:off x="2872710" y="4977639"/>
            <a:ext cx="7058025" cy="1306793"/>
          </a:xfrm>
          <a:prstGeom prst="rect">
            <a:avLst/>
          </a:prstGeom>
          <a:gradFill flip="none" rotWithShape="1">
            <a:gsLst>
              <a:gs pos="100000">
                <a:schemeClr val="bg1"/>
              </a:gs>
              <a:gs pos="54000">
                <a:srgbClr val="85E0E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3A4F592B-509A-BCB3-EBCC-069FCE7BC78A}"/>
              </a:ext>
            </a:extLst>
          </p:cNvPr>
          <p:cNvSpPr/>
          <p:nvPr/>
        </p:nvSpPr>
        <p:spPr>
          <a:xfrm>
            <a:off x="2083897" y="4977637"/>
            <a:ext cx="1352781" cy="1306793"/>
          </a:xfrm>
          <a:prstGeom prst="ellipse">
            <a:avLst/>
          </a:prstGeom>
          <a:solidFill>
            <a:srgbClr val="43CDD9"/>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4DF7098A-3AD4-516D-8939-38F0E4D48D62}"/>
              </a:ext>
            </a:extLst>
          </p:cNvPr>
          <p:cNvSpPr txBox="1"/>
          <p:nvPr/>
        </p:nvSpPr>
        <p:spPr>
          <a:xfrm>
            <a:off x="3792899" y="5323258"/>
            <a:ext cx="5737788" cy="615553"/>
          </a:xfrm>
          <a:prstGeom prst="rect">
            <a:avLst/>
          </a:prstGeom>
          <a:noFill/>
        </p:spPr>
        <p:txBody>
          <a:bodyPr wrap="square" lIns="0" tIns="0" rIns="0" bIns="0" rtlCol="0">
            <a:spAutoFit/>
          </a:bodyPr>
          <a:lstStyle/>
          <a:p>
            <a:pPr algn="ctr"/>
            <a:r>
              <a:rPr lang="en-US" sz="4000" dirty="0"/>
              <a:t>Theme Lands </a:t>
            </a:r>
            <a:r>
              <a:rPr lang="en-US" sz="4000" b="1" dirty="0"/>
              <a:t>&gt;</a:t>
            </a:r>
            <a:r>
              <a:rPr lang="en-US" sz="4000" dirty="0"/>
              <a:t> Thrill Rides</a:t>
            </a:r>
          </a:p>
        </p:txBody>
      </p:sp>
      <p:pic>
        <p:nvPicPr>
          <p:cNvPr id="3" name="Picture 2">
            <a:extLst>
              <a:ext uri="{FF2B5EF4-FFF2-40B4-BE49-F238E27FC236}">
                <a16:creationId xmlns:a16="http://schemas.microsoft.com/office/drawing/2014/main" id="{B1D30A8F-615A-BBCE-DB30-8CAD707F56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96319" y="1802640"/>
            <a:ext cx="1131105" cy="1131105"/>
          </a:xfrm>
          <a:prstGeom prst="rect">
            <a:avLst/>
          </a:prstGeom>
        </p:spPr>
      </p:pic>
      <p:pic>
        <p:nvPicPr>
          <p:cNvPr id="1026" name="Picture 2" descr="Check out this transparent DuckTales Scrooge McDuck diving ...">
            <a:extLst>
              <a:ext uri="{FF2B5EF4-FFF2-40B4-BE49-F238E27FC236}">
                <a16:creationId xmlns:a16="http://schemas.microsoft.com/office/drawing/2014/main" id="{C73C9303-F894-C8E4-B8CB-27D6642A9E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0803" y="3639498"/>
            <a:ext cx="995229" cy="6468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84BE971-500D-F61C-68D2-75EF276FCE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2373" y="5094195"/>
            <a:ext cx="2791558" cy="1073676"/>
          </a:xfrm>
          <a:prstGeom prst="rect">
            <a:avLst/>
          </a:prstGeom>
        </p:spPr>
      </p:pic>
    </p:spTree>
    <p:extLst>
      <p:ext uri="{BB962C8B-B14F-4D97-AF65-F5344CB8AC3E}">
        <p14:creationId xmlns:p14="http://schemas.microsoft.com/office/powerpoint/2010/main" val="3042603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person's face&#10;&#10;Description automatically generated with low confidence">
            <a:extLst>
              <a:ext uri="{FF2B5EF4-FFF2-40B4-BE49-F238E27FC236}">
                <a16:creationId xmlns:a16="http://schemas.microsoft.com/office/drawing/2014/main" id="{618CACC1-1BFF-9CA2-D4BB-F2074B7A7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12192001" cy="6858002"/>
          </a:xfrm>
          <a:prstGeom prst="rect">
            <a:avLst/>
          </a:prstGeom>
        </p:spPr>
      </p:pic>
      <p:sp>
        <p:nvSpPr>
          <p:cNvPr id="6" name="Oval 5">
            <a:extLst>
              <a:ext uri="{FF2B5EF4-FFF2-40B4-BE49-F238E27FC236}">
                <a16:creationId xmlns:a16="http://schemas.microsoft.com/office/drawing/2014/main" id="{F36BA219-D2A6-D9EA-5ED8-6FE7795FBAAD}"/>
              </a:ext>
              <a:ext uri="{C183D7F6-B498-43B3-948B-1728B52AA6E4}">
                <adec:decorative xmlns:adec="http://schemas.microsoft.com/office/drawing/2017/decorative" val="1"/>
              </a:ext>
            </a:extLst>
          </p:cNvPr>
          <p:cNvSpPr/>
          <p:nvPr/>
        </p:nvSpPr>
        <p:spPr>
          <a:xfrm>
            <a:off x="3879010" y="1212017"/>
            <a:ext cx="4433981" cy="4433966"/>
          </a:xfrm>
          <a:prstGeom prst="ellipse">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7" name="Group 6">
            <a:extLst>
              <a:ext uri="{FF2B5EF4-FFF2-40B4-BE49-F238E27FC236}">
                <a16:creationId xmlns:a16="http://schemas.microsoft.com/office/drawing/2014/main" id="{21F7007F-F355-6569-B70B-FC536D932288}"/>
              </a:ext>
              <a:ext uri="{C183D7F6-B498-43B3-948B-1728B52AA6E4}">
                <adec:decorative xmlns:adec="http://schemas.microsoft.com/office/drawing/2017/decorative" val="1"/>
              </a:ext>
            </a:extLst>
          </p:cNvPr>
          <p:cNvGrpSpPr/>
          <p:nvPr/>
        </p:nvGrpSpPr>
        <p:grpSpPr>
          <a:xfrm>
            <a:off x="2757714" y="1626921"/>
            <a:ext cx="6676572" cy="3604160"/>
            <a:chOff x="2162629" y="1305681"/>
            <a:chExt cx="7866742" cy="4246640"/>
          </a:xfrm>
        </p:grpSpPr>
        <p:sp>
          <p:nvSpPr>
            <p:cNvPr id="8" name="Oval 7">
              <a:extLst>
                <a:ext uri="{FF2B5EF4-FFF2-40B4-BE49-F238E27FC236}">
                  <a16:creationId xmlns:a16="http://schemas.microsoft.com/office/drawing/2014/main" id="{8A5FAED3-3952-B80C-84ED-1D7A776628BA}"/>
                </a:ext>
              </a:extLst>
            </p:cNvPr>
            <p:cNvSpPr/>
            <p:nvPr/>
          </p:nvSpPr>
          <p:spPr>
            <a:xfrm>
              <a:off x="5782715" y="1305681"/>
              <a:ext cx="4246656" cy="424664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CA422D2A-2FC4-6851-FAE1-618575BFF1CC}"/>
                </a:ext>
              </a:extLst>
            </p:cNvPr>
            <p:cNvSpPr/>
            <p:nvPr/>
          </p:nvSpPr>
          <p:spPr>
            <a:xfrm>
              <a:off x="2162629" y="1305681"/>
              <a:ext cx="4246656" cy="424664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Oval 9">
            <a:extLst>
              <a:ext uri="{FF2B5EF4-FFF2-40B4-BE49-F238E27FC236}">
                <a16:creationId xmlns:a16="http://schemas.microsoft.com/office/drawing/2014/main" id="{7094585F-54B9-30B5-79A3-1A8E083EF3F9}"/>
              </a:ext>
              <a:ext uri="{C183D7F6-B498-43B3-948B-1728B52AA6E4}">
                <adec:decorative xmlns:adec="http://schemas.microsoft.com/office/drawing/2017/decorative" val="1"/>
              </a:ext>
            </a:extLst>
          </p:cNvPr>
          <p:cNvSpPr/>
          <p:nvPr/>
        </p:nvSpPr>
        <p:spPr>
          <a:xfrm>
            <a:off x="3456507" y="789512"/>
            <a:ext cx="5278993" cy="5278976"/>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TextBox 10">
            <a:extLst>
              <a:ext uri="{FF2B5EF4-FFF2-40B4-BE49-F238E27FC236}">
                <a16:creationId xmlns:a16="http://schemas.microsoft.com/office/drawing/2014/main" id="{88302F17-2BCE-7A0B-2AEC-9FAD942BB8D8}"/>
              </a:ext>
            </a:extLst>
          </p:cNvPr>
          <p:cNvSpPr txBox="1"/>
          <p:nvPr/>
        </p:nvSpPr>
        <p:spPr>
          <a:xfrm>
            <a:off x="4379184" y="3059668"/>
            <a:ext cx="3433632" cy="738664"/>
          </a:xfrm>
          <a:prstGeom prst="rect">
            <a:avLst/>
          </a:prstGeom>
          <a:noFill/>
        </p:spPr>
        <p:txBody>
          <a:bodyPr wrap="none" lIns="0" tIns="0" rIns="0" bIns="0" rtlCol="0">
            <a:spAutoFit/>
          </a:bodyPr>
          <a:lstStyle/>
          <a:p>
            <a:pPr algn="ctr">
              <a:tabLst>
                <a:tab pos="347663" algn="l"/>
              </a:tabLst>
            </a:pPr>
            <a:r>
              <a:rPr lang="en-US" sz="4800" b="1" dirty="0">
                <a:solidFill>
                  <a:srgbClr val="FFFFFF"/>
                </a:solidFill>
                <a:latin typeface="+mj-lt"/>
              </a:rPr>
              <a:t>THANK YOU</a:t>
            </a:r>
          </a:p>
        </p:txBody>
      </p:sp>
    </p:spTree>
    <p:extLst>
      <p:ext uri="{BB962C8B-B14F-4D97-AF65-F5344CB8AC3E}">
        <p14:creationId xmlns:p14="http://schemas.microsoft.com/office/powerpoint/2010/main" val="2894530775"/>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odern 01">
      <a:majorFont>
        <a:latin typeface="Century Gothic"/>
        <a:ea typeface=""/>
        <a:cs typeface=""/>
      </a:majorFont>
      <a:minorFont>
        <a:latin typeface="Segoe U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crosoft_Data_Driven_Financial_Corporate.potx" id="{AF0BB5A1-6D8A-4FE6-8E42-5BDD7830AEFF}" vid="{0057B11C-41A7-4209-873B-0AFB0F6811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Data-driven PowerPoint, from 24Slides</Template>
  <TotalTime>949</TotalTime>
  <Words>503</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Gothic</vt:lpstr>
      <vt:lpstr>Segoe UI Light</vt:lpstr>
      <vt:lpstr>Office Theme</vt:lpstr>
      <vt:lpstr>PowerPoint Presentation</vt:lpstr>
      <vt:lpstr>Slide 3</vt:lpstr>
      <vt:lpstr>Slide 2</vt:lpstr>
      <vt:lpstr>Slide 2</vt:lpstr>
      <vt:lpstr>Slide 2</vt:lpstr>
      <vt:lpstr>Slide 2</vt:lpstr>
      <vt:lpstr>Slide 4</vt:lpstr>
      <vt:lpstr>Slide 10</vt:lpstr>
      <vt:lpstr>Slide 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Kyle Salgado-Gouker</dc:creator>
  <cp:lastModifiedBy>kyle.salgado.gouker@gmail.com</cp:lastModifiedBy>
  <cp:revision>37</cp:revision>
  <dcterms:created xsi:type="dcterms:W3CDTF">2022-10-29T17:53:13Z</dcterms:created>
  <dcterms:modified xsi:type="dcterms:W3CDTF">2022-10-30T18:19:12Z</dcterms:modified>
</cp:coreProperties>
</file>